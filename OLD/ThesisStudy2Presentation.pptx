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98" r:id="rId4"/>
    <p:sldId id="299" r:id="rId5"/>
    <p:sldId id="302" r:id="rId6"/>
    <p:sldId id="315" r:id="rId7"/>
    <p:sldId id="301" r:id="rId8"/>
    <p:sldId id="300" r:id="rId9"/>
    <p:sldId id="304" r:id="rId10"/>
    <p:sldId id="310" r:id="rId11"/>
    <p:sldId id="311" r:id="rId12"/>
    <p:sldId id="312" r:id="rId13"/>
    <p:sldId id="305" r:id="rId14"/>
    <p:sldId id="306" r:id="rId15"/>
    <p:sldId id="308" r:id="rId16"/>
    <p:sldId id="313" r:id="rId17"/>
    <p:sldId id="30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699"/>
  </p:normalViewPr>
  <p:slideViewPr>
    <p:cSldViewPr snapToGrid="0">
      <p:cViewPr varScale="1">
        <p:scale>
          <a:sx n="115" d="100"/>
          <a:sy n="115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B6F1-FB72-8A96-9912-26855D391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8DC0D-3F7D-4102-7C0E-547C8F7F0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F47C1-200B-73F9-2C24-94E0615B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B51F8-A9E4-00D8-217D-033620A0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745A2-4475-42FC-43AB-80774A60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48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DB4A6-F74F-8161-5AF6-7657F28C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DF891-9936-FBFC-BC8B-7A9D2255D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4BF8B-879E-43B1-9DC3-D3266095A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85B5B-41B5-710C-6DFC-C7C9D21F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E77C1-4509-F962-3554-3FA3C72A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3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B8C2-94A3-116A-23BD-70D68AFA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E4FCE-35D6-CCA6-1639-87CE6EC75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A7792-BB07-758D-4206-F4E19D818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B49A1-6E6C-DE47-113B-EE262BAB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5EC77-7850-E6F9-1B43-CA0B9EF7C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8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0F528-BABA-4FC5-29F2-C4508047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5040A-6495-D5FE-7F5F-81523E8D7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EEB5B-B0BF-3CCB-41B9-B8D792E86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A7D0B-601A-42EE-A7DC-F8D999661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75D79-FD14-DBCF-ECD3-4F6AB88D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148E3-D232-C21E-5EBD-1AB7903B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8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BE395-00B9-2ABF-9BC8-2B47ACF5C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2A2CF-6318-5947-C51E-6A8EC03F6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B93ED-2434-9138-171D-E1987CAD7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FB9D97-0AFD-F42D-EEDE-ABF68555A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5F212-E9E7-00B5-1EA7-055C641626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6095F6-3D9B-26B6-0B79-65AA0208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6E9DE-C27C-9BF5-1004-3D80ED8B6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448C41-1BE7-2AD8-9403-B69E3FC27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8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99C1-95BA-4BDF-639D-3D79D4C1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6E455-519C-792E-2862-9C8D6DA9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5BCCA-01DE-5896-0197-4B1CC5FB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F8410-3BFB-D7BC-A7D8-FBF61C987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0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ABBA3-3B42-F385-30F9-44BAE192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9C67A8-B346-F332-1FC2-A09AFE1C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0FE9-3F69-F66D-F73B-EC40D74A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3F288-70E6-008C-54F0-0B76EF8C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AB755-F6E8-6F97-AB5C-2FC9E3CF0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79286-5106-5BA7-010C-7680E9461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A33AD-16D8-18BA-A309-6FFDB3E1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0D350-C29C-BEA7-5ED3-7CCD04F2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8533A-0D4F-CA16-C471-523B2044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36AD-3B2D-2AEE-A55E-10E9A5097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40AD5C-21E7-1C03-027D-6CA036B3B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E9FDD-E7B7-7F39-B6C0-46C1988EF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C01A7-1726-2DA5-5806-48D84224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D4EE5-207E-DC56-9433-39A826F0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F1968-3209-56E6-F41C-3917C3B5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7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B6C3-907A-9D30-7A12-4B9977EB0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69E83-1221-2205-AAAA-8DEF9AD77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D346E-BA95-BAF1-8850-7EF9587E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29930-6595-C992-BBB3-5C7E4864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87768-FC06-EF1A-CF4D-BFE9C4E6D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6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2A5A9-B52E-9786-6D7D-384570358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60378-454A-A11E-5849-A5ADEBDC4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08332-D651-BD2F-6DFD-EF746C61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E937D-671C-A7F6-7678-DA31549C6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D314A-D995-55EC-60E6-E15BCB9A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5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FA00DF-3E5B-9009-AD04-581EE3B8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04554-705C-3C90-8466-316158684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C794F-3810-B078-F863-3801DF863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65321-2719-A34E-AB27-1A2B67F98166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2E27B-EBAB-9E42-833F-C00D86766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19AFE-3F19-56F4-62FC-250DCB80D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FF4F9-9B72-B12E-4C11-33FDCE93B3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Canonical Numerical Associations in Linear Trends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17263-E660-E429-85EF-BA6BFA994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Nick Tarantino and Martha W. Alibali</a:t>
            </a:r>
          </a:p>
        </p:txBody>
      </p:sp>
    </p:spTree>
    <p:extLst>
      <p:ext uri="{BB962C8B-B14F-4D97-AF65-F5344CB8AC3E}">
        <p14:creationId xmlns:p14="http://schemas.microsoft.com/office/powerpoint/2010/main" val="1446746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48EF0-1FF4-EF5A-A0C0-BC5092AE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0E0E-501E-3CFB-C82F-257C02A4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A06B-C0EE-D02A-9FDA-45BF65066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937" cy="4351338"/>
          </a:xfrm>
        </p:spPr>
        <p:txBody>
          <a:bodyPr/>
          <a:lstStyle/>
          <a:p>
            <a:r>
              <a:rPr lang="en-US" dirty="0"/>
              <a:t>One of the earliest symbolic tools used to depict spatial, temporal, and numerical information (e.g., maps)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31162FB0-EE44-16F7-636E-D8C9BB4F6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230" y="297890"/>
            <a:ext cx="4000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AAD4F-29AB-C52A-C67D-31525F2C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654F-E2B2-CF1D-0944-864EEF89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6E928-3BB1-F92A-BDA5-66923DB1A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937" cy="5155038"/>
          </a:xfrm>
        </p:spPr>
        <p:txBody>
          <a:bodyPr>
            <a:normAutofit/>
          </a:bodyPr>
          <a:lstStyle/>
          <a:p>
            <a:r>
              <a:rPr lang="en-US" dirty="0"/>
              <a:t>One of the earliest symbolic tools used to depict spatial, temporal, and numerical information (e.g., maps)</a:t>
            </a:r>
          </a:p>
          <a:p>
            <a:endParaRPr lang="en-US" dirty="0"/>
          </a:p>
          <a:p>
            <a:r>
              <a:rPr lang="en-US" dirty="0"/>
              <a:t>Rely on perceptually basic non-symbolic magnitudes to depict this information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F5A5307E-6231-16E6-FF68-5EB904598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230" y="297890"/>
            <a:ext cx="4000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9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1D195-FD28-F13F-8301-03F6C9F1C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90C5-08CB-74BE-454F-22CC82DC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E67C4-7950-4708-18DB-B13CD46F7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937" cy="5155038"/>
          </a:xfrm>
        </p:spPr>
        <p:txBody>
          <a:bodyPr>
            <a:normAutofit/>
          </a:bodyPr>
          <a:lstStyle/>
          <a:p>
            <a:r>
              <a:rPr lang="en-US" dirty="0"/>
              <a:t>One of the earliest symbolic tools used to depict spatial, temporal, and numerical information (e.g., maps)</a:t>
            </a:r>
          </a:p>
          <a:p>
            <a:endParaRPr lang="en-US" dirty="0"/>
          </a:p>
          <a:p>
            <a:r>
              <a:rPr lang="en-US" dirty="0"/>
              <a:t>Rely on perceptually basic non-symbolic magnitudes to depict this information</a:t>
            </a:r>
          </a:p>
          <a:p>
            <a:endParaRPr lang="en-US" dirty="0"/>
          </a:p>
          <a:p>
            <a:r>
              <a:rPr lang="en-US" dirty="0"/>
              <a:t>So simple, that people without mathematics education and non-human primates can judge trends in graphs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0A11937D-621D-0938-6BA5-1FAC93E33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230" y="297890"/>
            <a:ext cx="4000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86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248F6A91-E074-B1B4-7EDD-F44B61C7FBDF}"/>
              </a:ext>
            </a:extLst>
          </p:cNvPr>
          <p:cNvSpPr txBox="1"/>
          <p:nvPr/>
        </p:nvSpPr>
        <p:spPr>
          <a:xfrm>
            <a:off x="3588536" y="129027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Data Set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70603F-7302-0CBD-3469-1DEB5BCB295B}"/>
              </a:ext>
            </a:extLst>
          </p:cNvPr>
          <p:cNvSpPr txBox="1"/>
          <p:nvPr/>
        </p:nvSpPr>
        <p:spPr>
          <a:xfrm>
            <a:off x="469962" y="1269604"/>
            <a:ext cx="133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Data Set A</a:t>
            </a:r>
          </a:p>
        </p:txBody>
      </p:sp>
      <p:graphicFrame>
        <p:nvGraphicFramePr>
          <p:cNvPr id="2" name="Content Placeholder 6">
            <a:extLst>
              <a:ext uri="{FF2B5EF4-FFF2-40B4-BE49-F238E27FC236}">
                <a16:creationId xmlns:a16="http://schemas.microsoft.com/office/drawing/2014/main" id="{B02D82A3-1EC8-CBE5-15C2-3429579FD6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3053748"/>
              </p:ext>
            </p:extLst>
          </p:nvPr>
        </p:nvGraphicFramePr>
        <p:xfrm>
          <a:off x="243047" y="1795541"/>
          <a:ext cx="2005446" cy="3792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2723">
                  <a:extLst>
                    <a:ext uri="{9D8B030D-6E8A-4147-A177-3AD203B41FA5}">
                      <a16:colId xmlns:a16="http://schemas.microsoft.com/office/drawing/2014/main" val="3978532230"/>
                    </a:ext>
                  </a:extLst>
                </a:gridCol>
                <a:gridCol w="1002723">
                  <a:extLst>
                    <a:ext uri="{9D8B030D-6E8A-4147-A177-3AD203B41FA5}">
                      <a16:colId xmlns:a16="http://schemas.microsoft.com/office/drawing/2014/main" val="278652173"/>
                    </a:ext>
                  </a:extLst>
                </a:gridCol>
              </a:tblGrid>
              <a:tr h="3314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x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y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3897460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7.23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3916618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4.32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761805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5.98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5855747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9.42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0966424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6.29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45830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10.11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9098534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5.34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0768150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12.98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2639964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7.09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9405861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10.65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802589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79FBCE-AC1B-D5C6-08AB-DF117636B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863919"/>
              </p:ext>
            </p:extLst>
          </p:nvPr>
        </p:nvGraphicFramePr>
        <p:xfrm>
          <a:off x="3242527" y="1795541"/>
          <a:ext cx="2030846" cy="3792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3738398907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0253761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x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y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27995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6.89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99555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13.8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03856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8.45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02725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9.82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66705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5.71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7278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9.32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1723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7.33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11172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10.5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180913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3.12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71323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5.11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716329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455253D-6BE3-6129-D8B5-AC73798503C0}"/>
              </a:ext>
            </a:extLst>
          </p:cNvPr>
          <p:cNvSpPr txBox="1"/>
          <p:nvPr/>
        </p:nvSpPr>
        <p:spPr>
          <a:xfrm>
            <a:off x="424304" y="483638"/>
            <a:ext cx="64949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Which data set has a positive correlation?</a:t>
            </a:r>
          </a:p>
        </p:txBody>
      </p:sp>
    </p:spTree>
    <p:extLst>
      <p:ext uri="{BB962C8B-B14F-4D97-AF65-F5344CB8AC3E}">
        <p14:creationId xmlns:p14="http://schemas.microsoft.com/office/powerpoint/2010/main" val="2418847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3B38C-9766-297F-00D5-A94F99FC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F596BFA-679C-4073-2360-527582BDD1B1}"/>
              </a:ext>
            </a:extLst>
          </p:cNvPr>
          <p:cNvSpPr txBox="1"/>
          <p:nvPr/>
        </p:nvSpPr>
        <p:spPr>
          <a:xfrm>
            <a:off x="3588536" y="129027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Data Set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B3C393-66DE-1377-0A68-C9B4BB2C524D}"/>
              </a:ext>
            </a:extLst>
          </p:cNvPr>
          <p:cNvSpPr txBox="1"/>
          <p:nvPr/>
        </p:nvSpPr>
        <p:spPr>
          <a:xfrm>
            <a:off x="469962" y="1269604"/>
            <a:ext cx="133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Data Set A</a:t>
            </a:r>
          </a:p>
        </p:txBody>
      </p:sp>
      <p:graphicFrame>
        <p:nvGraphicFramePr>
          <p:cNvPr id="2" name="Content Placeholder 6">
            <a:extLst>
              <a:ext uri="{FF2B5EF4-FFF2-40B4-BE49-F238E27FC236}">
                <a16:creationId xmlns:a16="http://schemas.microsoft.com/office/drawing/2014/main" id="{98169B0A-E14D-1959-2B35-D587EB5271A6}"/>
              </a:ext>
            </a:extLst>
          </p:cNvPr>
          <p:cNvGraphicFramePr>
            <a:graphicFrameLocks/>
          </p:cNvGraphicFramePr>
          <p:nvPr/>
        </p:nvGraphicFramePr>
        <p:xfrm>
          <a:off x="243047" y="1795541"/>
          <a:ext cx="2005446" cy="3792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2723">
                  <a:extLst>
                    <a:ext uri="{9D8B030D-6E8A-4147-A177-3AD203B41FA5}">
                      <a16:colId xmlns:a16="http://schemas.microsoft.com/office/drawing/2014/main" val="3978532230"/>
                    </a:ext>
                  </a:extLst>
                </a:gridCol>
                <a:gridCol w="1002723">
                  <a:extLst>
                    <a:ext uri="{9D8B030D-6E8A-4147-A177-3AD203B41FA5}">
                      <a16:colId xmlns:a16="http://schemas.microsoft.com/office/drawing/2014/main" val="278652173"/>
                    </a:ext>
                  </a:extLst>
                </a:gridCol>
              </a:tblGrid>
              <a:tr h="3314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x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y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3897460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7.23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3916618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4.32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761805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5.98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5855747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9.42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0966424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6.29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45830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10.11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9098534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5.34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0768150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12.98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2639964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7.09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9405861"/>
                  </a:ext>
                </a:extLst>
              </a:tr>
              <a:tr h="331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10.65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802589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0D2E28-918D-D294-C1AF-1DDE02A13005}"/>
              </a:ext>
            </a:extLst>
          </p:cNvPr>
          <p:cNvGraphicFramePr>
            <a:graphicFrameLocks noGrp="1"/>
          </p:cNvGraphicFramePr>
          <p:nvPr/>
        </p:nvGraphicFramePr>
        <p:xfrm>
          <a:off x="3242527" y="1795541"/>
          <a:ext cx="2030846" cy="3792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3738398907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0253761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x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y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27995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6.89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99555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13.8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03856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8.45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02725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9.82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66705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5.71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7278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9.32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1723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7.33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11172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10.5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180913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3.12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71323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Helvetica" pitchFamily="2" charset="0"/>
                        </a:rPr>
                        <a:t>5.11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716329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54A4801-1A77-5A0E-CF5F-91DDBC8CE622}"/>
              </a:ext>
            </a:extLst>
          </p:cNvPr>
          <p:cNvSpPr txBox="1"/>
          <p:nvPr/>
        </p:nvSpPr>
        <p:spPr>
          <a:xfrm>
            <a:off x="424304" y="452637"/>
            <a:ext cx="64949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Which data set has a positive correlation?</a:t>
            </a:r>
          </a:p>
        </p:txBody>
      </p:sp>
      <p:pic>
        <p:nvPicPr>
          <p:cNvPr id="4" name="Picture 3" descr="A diagram of blue dots&#10;&#10;AI-generated content may be incorrect.">
            <a:extLst>
              <a:ext uri="{FF2B5EF4-FFF2-40B4-BE49-F238E27FC236}">
                <a16:creationId xmlns:a16="http://schemas.microsoft.com/office/drawing/2014/main" id="{02CC9B00-1CB8-361C-2B36-E436D704D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637" y="1096914"/>
            <a:ext cx="3298489" cy="2182582"/>
          </a:xfrm>
          <a:prstGeom prst="rect">
            <a:avLst/>
          </a:prstGeom>
        </p:spPr>
      </p:pic>
      <p:pic>
        <p:nvPicPr>
          <p:cNvPr id="5" name="Picture 4" descr="A white background with blue dots&#10;&#10;AI-generated content may be incorrect.">
            <a:extLst>
              <a:ext uri="{FF2B5EF4-FFF2-40B4-BE49-F238E27FC236}">
                <a16:creationId xmlns:a16="http://schemas.microsoft.com/office/drawing/2014/main" id="{F4658AC4-58C8-9DF2-24B5-00D972AFFF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91"/>
          <a:stretch>
            <a:fillRect/>
          </a:stretch>
        </p:blipFill>
        <p:spPr>
          <a:xfrm>
            <a:off x="7280910" y="4208028"/>
            <a:ext cx="3249930" cy="2182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DFB70E-4857-0E75-0469-B856F3100ECB}"/>
              </a:ext>
            </a:extLst>
          </p:cNvPr>
          <p:cNvSpPr txBox="1"/>
          <p:nvPr/>
        </p:nvSpPr>
        <p:spPr>
          <a:xfrm>
            <a:off x="8236461" y="383869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Data Set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EC833-6693-8EC4-7304-1B11BD0F93D8}"/>
              </a:ext>
            </a:extLst>
          </p:cNvPr>
          <p:cNvSpPr txBox="1"/>
          <p:nvPr/>
        </p:nvSpPr>
        <p:spPr>
          <a:xfrm>
            <a:off x="8236461" y="353048"/>
            <a:ext cx="133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Data Set A</a:t>
            </a:r>
          </a:p>
        </p:txBody>
      </p:sp>
    </p:spTree>
    <p:extLst>
      <p:ext uri="{BB962C8B-B14F-4D97-AF65-F5344CB8AC3E}">
        <p14:creationId xmlns:p14="http://schemas.microsoft.com/office/powerpoint/2010/main" val="755447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2CD49-DA17-4A85-0F06-8E50C7474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6687-165E-E00C-600B-8FD58AB93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EE7F4-E63D-EC45-1A0E-DDE493D44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59029" cy="4351338"/>
          </a:xfrm>
        </p:spPr>
        <p:txBody>
          <a:bodyPr/>
          <a:lstStyle/>
          <a:p>
            <a:r>
              <a:rPr lang="en-US" dirty="0"/>
              <a:t>Despite their simplicity, graphs facilitate highly complex mathematical thinking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a line with a line and a line with a line&#10;&#10;AI-generated content may be incorrect.">
            <a:extLst>
              <a:ext uri="{FF2B5EF4-FFF2-40B4-BE49-F238E27FC236}">
                <a16:creationId xmlns:a16="http://schemas.microsoft.com/office/drawing/2014/main" id="{75D8CC80-F34A-46E3-8243-7C29B8387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866" y="2103789"/>
            <a:ext cx="3131634" cy="323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855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2F69D-95BF-B742-6A4A-7BFC32FFC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01E2D-98E4-8A2E-D45A-403D7B53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C4B2E-B383-C4D5-B096-30F5A38AE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59029" cy="4351338"/>
          </a:xfrm>
        </p:spPr>
        <p:txBody>
          <a:bodyPr/>
          <a:lstStyle/>
          <a:p>
            <a:r>
              <a:rPr lang="en-US" dirty="0"/>
              <a:t>Despite their simplicity, graphs facilitate highly complex mathematical thinking</a:t>
            </a:r>
          </a:p>
          <a:p>
            <a:endParaRPr lang="en-US" dirty="0"/>
          </a:p>
          <a:p>
            <a:r>
              <a:rPr lang="en-US" dirty="0"/>
              <a:t>Does this basic perception of graphs still activate quantitative representations?</a:t>
            </a:r>
          </a:p>
          <a:p>
            <a:pPr lvl="1"/>
            <a:r>
              <a:rPr lang="en-US" dirty="0"/>
              <a:t>Such as number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a line with a line and a line with a line&#10;&#10;AI-generated content may be incorrect.">
            <a:extLst>
              <a:ext uri="{FF2B5EF4-FFF2-40B4-BE49-F238E27FC236}">
                <a16:creationId xmlns:a16="http://schemas.microsoft.com/office/drawing/2014/main" id="{E82DF06F-6D54-992B-28A9-AB6A22947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866" y="2103789"/>
            <a:ext cx="3131634" cy="323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0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C1A90-564A-7154-47EF-53A67886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canonical associations between numerosity and linear trends in simple dot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7C4C-425B-AB16-73C6-B073A85EE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points is automatically perceived when judging trends in graphs </a:t>
            </a:r>
            <a:r>
              <a:rPr lang="en-US" sz="2000" dirty="0"/>
              <a:t>(</a:t>
            </a:r>
            <a:r>
              <a:rPr lang="en-US" sz="2000" dirty="0" err="1"/>
              <a:t>Ciccione</a:t>
            </a:r>
            <a:r>
              <a:rPr lang="en-US" sz="2000" dirty="0"/>
              <a:t> et al., 2023)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13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575F8-4BDD-AEA0-7BDF-36DAAABCA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940C-1CAF-E6E0-F888-CB29476F2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canonical associations between numerosity and linear trends in simple dot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4A8FA-5B58-5637-454E-39358A00D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points is automatically perceived when judging trends in graphs </a:t>
            </a:r>
            <a:r>
              <a:rPr lang="en-US" sz="2000" dirty="0"/>
              <a:t>(</a:t>
            </a:r>
            <a:r>
              <a:rPr lang="en-US" sz="2000" dirty="0" err="1"/>
              <a:t>Ciccione</a:t>
            </a:r>
            <a:r>
              <a:rPr lang="en-US" sz="2000" dirty="0"/>
              <a:t> et al., 2023)</a:t>
            </a:r>
          </a:p>
          <a:p>
            <a:r>
              <a:rPr lang="en-US" dirty="0"/>
              <a:t>Numerous arrays may be associated with increasing trends and sparse arrays with decreasing trends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195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C8D47-5658-4771-09F0-2C861B709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1A37-ECAD-0C46-DDD0-A3A63C147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canonical associations between numerosity and linear trends in simple dot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B6CA9-C5B2-6569-3058-E933198AD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points is automatically perceived when judging trends in graphs </a:t>
            </a:r>
            <a:r>
              <a:rPr lang="en-US" sz="2000" dirty="0"/>
              <a:t>(</a:t>
            </a:r>
            <a:r>
              <a:rPr lang="en-US" sz="2000" dirty="0" err="1"/>
              <a:t>Ciccione</a:t>
            </a:r>
            <a:r>
              <a:rPr lang="en-US" sz="2000" dirty="0"/>
              <a:t> et al., 2023)</a:t>
            </a:r>
          </a:p>
          <a:p>
            <a:r>
              <a:rPr lang="en-US" dirty="0"/>
              <a:t>Numerous arrays may be associated with increasing trends and sparse arrays with decreasing trends </a:t>
            </a:r>
          </a:p>
          <a:p>
            <a:r>
              <a:rPr lang="en-US" dirty="0"/>
              <a:t>If performance differs as a function of this putative congruency then participants must be recruiting these abstract associations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620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CD7E-4823-7FE6-59A7-1596D018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0B41-E41A-01CB-FD09-13E5BCD9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canonical associations between numerosity and linear trends in simple dot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659E7-9ED2-E5E5-3273-9B830864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points is automatically perceived when judging trends in graphs </a:t>
            </a:r>
            <a:r>
              <a:rPr lang="en-US" sz="2000" dirty="0"/>
              <a:t>(</a:t>
            </a:r>
            <a:r>
              <a:rPr lang="en-US" sz="2000" dirty="0" err="1"/>
              <a:t>Ciccione</a:t>
            </a:r>
            <a:r>
              <a:rPr lang="en-US" sz="2000" dirty="0"/>
              <a:t> et al., 2023)</a:t>
            </a:r>
          </a:p>
          <a:p>
            <a:r>
              <a:rPr lang="en-US" dirty="0"/>
              <a:t>Numerous arrays may be associated with increasing trends and sparse arrays with decreasing trends </a:t>
            </a:r>
          </a:p>
          <a:p>
            <a:r>
              <a:rPr lang="en-US" dirty="0"/>
              <a:t>If performance differs as a function of this putative congruency then participants must be recruiting these abstract associations</a:t>
            </a:r>
          </a:p>
          <a:p>
            <a:r>
              <a:rPr lang="en-US" dirty="0"/>
              <a:t>Should appear when judging trend not number because trend is irrelevant to judgements of number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39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79240-6667-AE1A-65F3-BEC992ADC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8FA30-8A99-3F11-E75F-3AF500B54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82996-BB83-5070-224A-C1CD5ECFA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2034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 undergraduates compared dot arrays online </a:t>
            </a:r>
          </a:p>
          <a:p>
            <a:endParaRPr lang="en-US" dirty="0"/>
          </a:p>
          <a:p>
            <a:r>
              <a:rPr lang="en-US" dirty="0"/>
              <a:t>Trend and Number task between-subjects</a:t>
            </a:r>
          </a:p>
          <a:p>
            <a:endParaRPr lang="en-US" dirty="0"/>
          </a:p>
          <a:p>
            <a:r>
              <a:rPr lang="en-US" dirty="0"/>
              <a:t>Arrays had few (8-14) or many (15-22) points with increasing or decreasing trends</a:t>
            </a:r>
          </a:p>
          <a:p>
            <a:endParaRPr lang="en-US" dirty="0"/>
          </a:p>
          <a:p>
            <a:r>
              <a:rPr lang="en-US" dirty="0"/>
              <a:t>Task: Compare bottom array to top neutral array with 0 trend and 15 points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4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FCF5641A-3559-3C32-B5EA-BC0F20C69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422" y="1825625"/>
            <a:ext cx="4220470" cy="37790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BE9986-D045-2F33-79E3-17E7F4E8268D}"/>
              </a:ext>
            </a:extLst>
          </p:cNvPr>
          <p:cNvSpPr txBox="1"/>
          <p:nvPr/>
        </p:nvSpPr>
        <p:spPr>
          <a:xfrm>
            <a:off x="7857173" y="5739606"/>
            <a:ext cx="43348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P and Q to indicate if the trend of array on bottom is (increasing/decreasing) or (more/less numerous) compared to top</a:t>
            </a:r>
          </a:p>
        </p:txBody>
      </p:sp>
    </p:spTree>
    <p:extLst>
      <p:ext uri="{BB962C8B-B14F-4D97-AF65-F5344CB8AC3E}">
        <p14:creationId xmlns:p14="http://schemas.microsoft.com/office/powerpoint/2010/main" val="438084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D4B7-42B7-5969-9FCC-AEECB48D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Does numerosity of an array influence judgments of its trend depending on direction?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36640-2BAE-B69C-B1BB-B1D74C479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0803" cy="4351338"/>
          </a:xfrm>
        </p:spPr>
        <p:txBody>
          <a:bodyPr/>
          <a:lstStyle/>
          <a:p>
            <a:r>
              <a:rPr lang="en-US" dirty="0"/>
              <a:t>More numerosity reduced reaction time for increasing trends but not for decreasing trends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(b = −0.034, SE = 0.011, z = −3.13, </a:t>
            </a:r>
            <a:r>
              <a:rPr lang="en-US" b="1" dirty="0"/>
              <a:t>p = .0017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75541444-4956-9A37-7588-4913C71D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389"/>
          <a:stretch>
            <a:fillRect/>
          </a:stretch>
        </p:blipFill>
        <p:spPr>
          <a:xfrm>
            <a:off x="5219003" y="1978025"/>
            <a:ext cx="5565852" cy="4663440"/>
          </a:xfrm>
          <a:prstGeom prst="rect">
            <a:avLst/>
          </a:prstGeom>
        </p:spPr>
      </p:pic>
      <p:pic>
        <p:nvPicPr>
          <p:cNvPr id="5" name="Content Placeholder 4" descr="A graph of 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DF2E941C-98CB-BE9E-511D-D4BE39C1B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056" b="32134"/>
          <a:stretch>
            <a:fillRect/>
          </a:stretch>
        </p:blipFill>
        <p:spPr>
          <a:xfrm>
            <a:off x="10247290" y="2444128"/>
            <a:ext cx="1980022" cy="2953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71BA5B-9A1D-B868-CA19-085D621CCB16}"/>
              </a:ext>
            </a:extLst>
          </p:cNvPr>
          <p:cNvSpPr txBox="1"/>
          <p:nvPr/>
        </p:nvSpPr>
        <p:spPr>
          <a:xfrm>
            <a:off x="9148270" y="2776653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DE6D0-0757-D8C4-2E6F-01CDE1D46363}"/>
              </a:ext>
            </a:extLst>
          </p:cNvPr>
          <p:cNvSpPr txBox="1"/>
          <p:nvPr/>
        </p:nvSpPr>
        <p:spPr>
          <a:xfrm>
            <a:off x="7097876" y="2591987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</a:t>
            </a:r>
          </a:p>
        </p:txBody>
      </p:sp>
    </p:spTree>
    <p:extLst>
      <p:ext uri="{BB962C8B-B14F-4D97-AF65-F5344CB8AC3E}">
        <p14:creationId xmlns:p14="http://schemas.microsoft.com/office/powerpoint/2010/main" val="3283320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600A2-0347-DB11-BEBF-BBC550CB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trend influence judgements of numerosity?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3B71D-21EE-FC53-CD82-8E2FE48F6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7147" cy="4351338"/>
          </a:xfrm>
        </p:spPr>
        <p:txBody>
          <a:bodyPr/>
          <a:lstStyle/>
          <a:p>
            <a:r>
              <a:rPr lang="en-US" dirty="0"/>
              <a:t>Trend had no influence on judgements of numerosity</a:t>
            </a:r>
          </a:p>
          <a:p>
            <a:pPr marL="0" indent="0">
              <a:buNone/>
            </a:pPr>
            <a:r>
              <a:rPr lang="en-US" dirty="0"/>
              <a:t>(b = 0.002, SE = 0.001, z = 1.66, </a:t>
            </a:r>
            <a:r>
              <a:rPr lang="en-US" b="1" dirty="0"/>
              <a:t>p = .098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521A36C5-A4F0-DCF4-8C3F-A0238182EB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103"/>
          <a:stretch>
            <a:fillRect/>
          </a:stretch>
        </p:blipFill>
        <p:spPr>
          <a:xfrm>
            <a:off x="5219003" y="1978025"/>
            <a:ext cx="5588155" cy="4663440"/>
          </a:xfrm>
          <a:prstGeom prst="rect">
            <a:avLst/>
          </a:prstGeom>
        </p:spPr>
      </p:pic>
      <p:pic>
        <p:nvPicPr>
          <p:cNvPr id="5" name="Content Placeholder 4" descr="A graph of 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B7D8A361-C5FD-767B-4A8C-6982A6A48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056" b="32134"/>
          <a:stretch>
            <a:fillRect/>
          </a:stretch>
        </p:blipFill>
        <p:spPr>
          <a:xfrm>
            <a:off x="10247290" y="2444128"/>
            <a:ext cx="1980022" cy="2953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C4215B-ED90-2D21-03BD-1645281E323D}"/>
              </a:ext>
            </a:extLst>
          </p:cNvPr>
          <p:cNvSpPr txBox="1"/>
          <p:nvPr/>
        </p:nvSpPr>
        <p:spPr>
          <a:xfrm>
            <a:off x="7083812" y="2591987"/>
            <a:ext cx="6116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3DCF1-CF04-0C76-6C17-D177F1F0568F}"/>
              </a:ext>
            </a:extLst>
          </p:cNvPr>
          <p:cNvSpPr txBox="1"/>
          <p:nvPr/>
        </p:nvSpPr>
        <p:spPr>
          <a:xfrm>
            <a:off x="9148270" y="2591987"/>
            <a:ext cx="6601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ns</a:t>
            </a:r>
          </a:p>
        </p:txBody>
      </p:sp>
    </p:spTree>
    <p:extLst>
      <p:ext uri="{BB962C8B-B14F-4D97-AF65-F5344CB8AC3E}">
        <p14:creationId xmlns:p14="http://schemas.microsoft.com/office/powerpoint/2010/main" val="2161454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57AE-2606-2D89-CB40-F736D57F3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A7F6-036A-9BD3-9D8D-AE55D9C0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might judging trend elicit associations with number?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F3A61-B10C-4B2E-2C2E-453E244AA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93322"/>
          </a:xfrm>
        </p:spPr>
        <p:txBody>
          <a:bodyPr>
            <a:normAutofit/>
          </a:bodyPr>
          <a:lstStyle/>
          <a:p>
            <a:r>
              <a:rPr lang="en-US" dirty="0"/>
              <a:t>Larger magnitudes are judged more accurately when they occur later in time</a:t>
            </a:r>
          </a:p>
          <a:p>
            <a:r>
              <a:rPr lang="en-US" dirty="0"/>
              <a:t>Temporal relations may serve as an analogy for graphs depicting spatial relations (where time becomes the x-axis) </a:t>
            </a:r>
          </a:p>
          <a:p>
            <a:r>
              <a:rPr lang="en-US" dirty="0"/>
              <a:t>Therefore, more numerous sets which contain more events might be perceived as further along this dimension and thus may be easier to represent as increasing</a:t>
            </a:r>
          </a:p>
          <a:p>
            <a:r>
              <a:rPr lang="en-US" dirty="0"/>
              <a:t>Further research is needed to elucidate the nature of this effect</a:t>
            </a:r>
          </a:p>
        </p:txBody>
      </p:sp>
    </p:spTree>
    <p:extLst>
      <p:ext uri="{BB962C8B-B14F-4D97-AF65-F5344CB8AC3E}">
        <p14:creationId xmlns:p14="http://schemas.microsoft.com/office/powerpoint/2010/main" val="262647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E513-DCEC-321A-9B1F-553ED131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BB5BA-F572-E86B-1EE3-26A92E9F8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Numerosity and the linear trend of an array have canonical associations</a:t>
            </a:r>
          </a:p>
          <a:p>
            <a:r>
              <a:rPr lang="en-US" dirty="0"/>
              <a:t>Very simple quasi-graphical stimuli elicit these abstract representations of numerical magnitude and relations thereof</a:t>
            </a:r>
          </a:p>
          <a:p>
            <a:r>
              <a:rPr lang="en-US" dirty="0"/>
              <a:t>Those studying graphical perception should consider that tasks which need not implicate mathematical thinking still might</a:t>
            </a:r>
          </a:p>
          <a:p>
            <a:r>
              <a:rPr lang="en-US" dirty="0"/>
              <a:t>Those studying the basic processing of ordinality and magnitude relations should look to graph perception for analogous biases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25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1807</TotalTime>
  <Words>798</Words>
  <Application>Microsoft Macintosh PowerPoint</Application>
  <PresentationFormat>Widescreen</PresentationFormat>
  <Paragraphs>173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Helvetica</vt:lpstr>
      <vt:lpstr>Office Theme</vt:lpstr>
      <vt:lpstr>Canonical Numerical Associations in Linear Trends </vt:lpstr>
      <vt:lpstr>Graphs</vt:lpstr>
      <vt:lpstr>Graphs</vt:lpstr>
      <vt:lpstr>Graphs</vt:lpstr>
      <vt:lpstr>PowerPoint Presentation</vt:lpstr>
      <vt:lpstr>PowerPoint Presentation</vt:lpstr>
      <vt:lpstr>Graphs</vt:lpstr>
      <vt:lpstr>Graphs</vt:lpstr>
      <vt:lpstr>Are there canonical associations between numerosity and linear trends in simple dot arrays?</vt:lpstr>
      <vt:lpstr>Are there canonical associations between numerosity and linear trends in simple dot arrays?</vt:lpstr>
      <vt:lpstr>Are there canonical associations between numerosity and linear trends in simple dot arrays?</vt:lpstr>
      <vt:lpstr>Are there canonical associations between numerosity and linear trends in simple dot arrays?</vt:lpstr>
      <vt:lpstr>Method</vt:lpstr>
      <vt:lpstr>Does numerosity of an array influence judgments of its trend depending on direction?</vt:lpstr>
      <vt:lpstr>Does trend influence judgements of numerosity?</vt:lpstr>
      <vt:lpstr>How might judging trend elicit associations with number?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Robert Tarantino</dc:creator>
  <cp:lastModifiedBy>Nick Robert Tarantino</cp:lastModifiedBy>
  <cp:revision>5</cp:revision>
  <dcterms:created xsi:type="dcterms:W3CDTF">2026-04-15T05:57:34Z</dcterms:created>
  <dcterms:modified xsi:type="dcterms:W3CDTF">2026-04-20T03:23:16Z</dcterms:modified>
</cp:coreProperties>
</file>