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97" r:id="rId4"/>
    <p:sldId id="275" r:id="rId5"/>
    <p:sldId id="276" r:id="rId6"/>
    <p:sldId id="298" r:id="rId7"/>
    <p:sldId id="273" r:id="rId8"/>
    <p:sldId id="280" r:id="rId9"/>
    <p:sldId id="296" r:id="rId10"/>
    <p:sldId id="299" r:id="rId11"/>
    <p:sldId id="284" r:id="rId12"/>
    <p:sldId id="287" r:id="rId13"/>
    <p:sldId id="262" r:id="rId14"/>
    <p:sldId id="265" r:id="rId15"/>
    <p:sldId id="266" r:id="rId16"/>
    <p:sldId id="267" r:id="rId17"/>
    <p:sldId id="294" r:id="rId18"/>
    <p:sldId id="301" r:id="rId19"/>
    <p:sldId id="300" r:id="rId20"/>
    <p:sldId id="268" r:id="rId21"/>
    <p:sldId id="295" r:id="rId22"/>
    <p:sldId id="288" r:id="rId23"/>
    <p:sldId id="290" r:id="rId24"/>
    <p:sldId id="291" r:id="rId25"/>
    <p:sldId id="29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2"/>
    <p:restoredTop sz="94771"/>
  </p:normalViewPr>
  <p:slideViewPr>
    <p:cSldViewPr snapToGrid="0">
      <p:cViewPr varScale="1">
        <p:scale>
          <a:sx n="115" d="100"/>
          <a:sy n="115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2F02-161A-5D0D-EEE0-2E14EB384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7592A-DFEE-37A1-7152-73C4A5E86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3FA41-391E-AE0E-55C6-5B8AB5D47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08F1B-715B-B520-FE9E-C9172998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67A9-E990-3AB2-EC76-4CC073C4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8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F91BF-99F7-BE43-513A-3F298661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00B5-2B62-2D0A-E2DA-1D621596D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8F25E-FC3F-D727-054B-FE944DFA6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B323-5ED6-C72C-31A5-9842BFBB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028E2-8DA3-B20F-CEDF-FAAB87B1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6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97E9-8472-EC1A-0FF1-B35FA1A5F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46BD3-179D-DB29-D91D-D48B349A7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A9231-616C-F6E0-71A7-9A13B870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AB0C-63FD-EF9C-AC94-75507AC4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3301-4C7A-21D3-7112-A2669081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2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1369-F521-84EF-F837-E0A937CD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360A1-C1CE-573A-73CA-051472E18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F2070-C3D0-9764-0CD7-A718FEB90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5A51C-A639-3C95-6D64-A296BCD4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37FB1-22CD-D19E-4842-37060BD8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B3CC7-250D-3399-1722-A94154F5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3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97F2-11D1-BFC9-B98F-E5A1E08C3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22A3-9E81-A1E9-AE73-E2708FAE6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3EC66-585A-0D2B-F125-6AC56A3DC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75939F-272C-AC88-6EAB-8D1215712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B22AB-CFBA-E2D1-E3CD-27DDFE935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3DA2EA-38A4-973D-3C3D-BE510D20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44226A-EE0E-D7FA-23F7-2AFA3A70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BCB5C1-4868-DCBE-47EA-51435B99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53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02D8-5B9D-612E-D2FD-EFE7CDB5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BC7A9-1FF4-C4F3-94A2-1D71B0C6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53534-8300-5671-573C-C5133A221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6F11D-A5E2-30BC-A568-E60EB79A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9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B2AC-20EB-A266-3D90-1CE286CE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287D1-122B-DD56-F1A3-031535FD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4FCB5-91BA-C439-F247-3124393F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5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B784-82F3-5805-59D6-0260BD56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0DFDA-23B1-38BF-0506-31CB92DBA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36B33-5243-8701-011A-434B886E5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3C50F-3289-8ABD-E3CE-581F0E17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7BA1D-D41D-7459-9386-C4A3C019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0EE99-2C21-065A-6917-B8331537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1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D736-283B-DD9E-D12E-811D550B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9F284-8050-07B8-F2C9-AF39F8289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75F69-1397-C31C-ED63-41AF81359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543DE-A75F-3288-121D-05A138AA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0C4F5-0692-C1AD-9868-05B0ABEA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D33CC-19F7-5AE5-C965-7BB2081B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0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3E77-BAA7-9C5C-61CC-F9EBBB5D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13F48-1EFF-A16F-3C2A-9A755F586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7911E-EF68-0A26-E03D-77D9DEDE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22BC9-0792-6405-1119-43424B308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08A49-A885-CD30-B039-C04FE24F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4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23908-A404-32C4-814B-15AB5C753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98F26-F4A4-2627-CEA0-2E84F07FA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45302-5FCF-4173-2780-D73D156C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B7839-EF10-080C-99AA-1FA9EAE9F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0CCE6-E3A5-0690-44DC-64497BF6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1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DFCD6-EF49-9EA1-372C-06034CB5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342F9-336D-34E7-1805-8C4A55825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1DCEE-D162-218E-49B7-783F79C07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BFC50-7AF2-3D40-BE58-BB92AC36DA2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BA628-78E5-42C5-817E-0A650C56F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FCDF-F3DF-B562-210D-6EFB60069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F023-7AD1-5B4A-944D-17D620327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16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DD11-8824-4955-54BC-D9DE70F0ED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Spatial and numerical associations in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2AEA9-F24B-7584-7142-96CF27909B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83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0075-F5CF-342C-BA03-9ED03CFD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tools influence cognition</a:t>
            </a:r>
          </a:p>
        </p:txBody>
      </p:sp>
      <p:pic>
        <p:nvPicPr>
          <p:cNvPr id="8" name="Content Placeholder 4" descr="A line with numbers on it&#10;&#10;AI-generated content may be incorrect.">
            <a:extLst>
              <a:ext uri="{FF2B5EF4-FFF2-40B4-BE49-F238E27FC236}">
                <a16:creationId xmlns:a16="http://schemas.microsoft.com/office/drawing/2014/main" id="{37F1C3B2-ACF1-86E5-D13C-3ED319BC3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48488"/>
            <a:ext cx="10280904" cy="204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8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9F97-7621-6C0A-3631-645557628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A268-3603-71D8-245F-58BF3B6E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tools influence 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368C6-E0E3-BF8A-B1B2-0EB27454A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Spatial Numerical Associations of Response Codes effect (SNARC)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3E01A-3BD1-8F06-0C85-0B040BE34CD2}"/>
              </a:ext>
            </a:extLst>
          </p:cNvPr>
          <p:cNvSpPr txBox="1"/>
          <p:nvPr/>
        </p:nvSpPr>
        <p:spPr>
          <a:xfrm>
            <a:off x="8808720" y="6488668"/>
            <a:ext cx="352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Dehaene, Bossini &amp; </a:t>
            </a:r>
            <a:r>
              <a:rPr lang="en-US" dirty="0" err="1"/>
              <a:t>Giraux</a:t>
            </a:r>
            <a:r>
              <a:rPr lang="en-US" dirty="0"/>
              <a:t>, 1993)</a:t>
            </a:r>
          </a:p>
        </p:txBody>
      </p:sp>
    </p:spTree>
    <p:extLst>
      <p:ext uri="{BB962C8B-B14F-4D97-AF65-F5344CB8AC3E}">
        <p14:creationId xmlns:p14="http://schemas.microsoft.com/office/powerpoint/2010/main" val="848163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8526-494E-981C-3AA4-F9822967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3865-D479-918D-530D-CB409BDB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SNARC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60A29-4CC8-D7A3-7BF2-C329294BD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Participants asked to press right key if numeral is even and left if numeral is odd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EE05F-D9DF-ACF9-E777-186DA7F1F427}"/>
              </a:ext>
            </a:extLst>
          </p:cNvPr>
          <p:cNvSpPr txBox="1"/>
          <p:nvPr/>
        </p:nvSpPr>
        <p:spPr>
          <a:xfrm>
            <a:off x="-1155374" y="3502736"/>
            <a:ext cx="86461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400" dirty="0"/>
              <a:t> 							9					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75A136-18A6-71AF-8BA2-EC9156ADEA7F}"/>
              </a:ext>
            </a:extLst>
          </p:cNvPr>
          <p:cNvSpPr txBox="1"/>
          <p:nvPr/>
        </p:nvSpPr>
        <p:spPr>
          <a:xfrm>
            <a:off x="8808720" y="6488668"/>
            <a:ext cx="352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Dehaene, Bossini &amp; </a:t>
            </a:r>
            <a:r>
              <a:rPr lang="en-US" dirty="0" err="1"/>
              <a:t>Giraux</a:t>
            </a:r>
            <a:r>
              <a:rPr lang="en-US" dirty="0"/>
              <a:t>, 1993)</a:t>
            </a:r>
          </a:p>
        </p:txBody>
      </p:sp>
    </p:spTree>
    <p:extLst>
      <p:ext uri="{BB962C8B-B14F-4D97-AF65-F5344CB8AC3E}">
        <p14:creationId xmlns:p14="http://schemas.microsoft.com/office/powerpoint/2010/main" val="305809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71D69-FD32-9C0F-E957-8936723D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71D3A-7E45-A2B6-6361-4868ED93D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SNARC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3686-BE6F-9675-DFC8-2FD222F8A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Participants asked to press right key if numeral is even and left if numeral is odd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18037-9696-1BB7-E322-BDB3204AAA0F}"/>
              </a:ext>
            </a:extLst>
          </p:cNvPr>
          <p:cNvSpPr txBox="1"/>
          <p:nvPr/>
        </p:nvSpPr>
        <p:spPr>
          <a:xfrm>
            <a:off x="8808720" y="6488668"/>
            <a:ext cx="352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Dehaene, Bossini &amp; </a:t>
            </a:r>
            <a:r>
              <a:rPr lang="en-US" dirty="0" err="1"/>
              <a:t>Giraux</a:t>
            </a:r>
            <a:r>
              <a:rPr lang="en-US" dirty="0"/>
              <a:t>, 1993)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378CD-96D6-BEFC-DECB-0CBC3EBD3731}"/>
              </a:ext>
            </a:extLst>
          </p:cNvPr>
          <p:cNvSpPr txBox="1"/>
          <p:nvPr/>
        </p:nvSpPr>
        <p:spPr>
          <a:xfrm>
            <a:off x="-1155374" y="3502736"/>
            <a:ext cx="86461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400" dirty="0"/>
              <a:t> 							4						</a:t>
            </a:r>
          </a:p>
        </p:txBody>
      </p:sp>
    </p:spTree>
    <p:extLst>
      <p:ext uri="{BB962C8B-B14F-4D97-AF65-F5344CB8AC3E}">
        <p14:creationId xmlns:p14="http://schemas.microsoft.com/office/powerpoint/2010/main" val="142618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500D9-E8E6-C1FF-3340-E17B8A5A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A029-3303-FAEA-2639-AB1DA7B6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SNARC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C78A4-033D-F5EA-DB31-23F5C558D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Participants asked to press right key if numeral is even and left if numeral is odd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CAC5C-2970-6607-542B-5234080165D5}"/>
              </a:ext>
            </a:extLst>
          </p:cNvPr>
          <p:cNvSpPr txBox="1"/>
          <p:nvPr/>
        </p:nvSpPr>
        <p:spPr>
          <a:xfrm>
            <a:off x="8808720" y="6488668"/>
            <a:ext cx="352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Dehaene, Bossini &amp; </a:t>
            </a:r>
            <a:r>
              <a:rPr lang="en-US" dirty="0" err="1"/>
              <a:t>Giraux</a:t>
            </a:r>
            <a:r>
              <a:rPr lang="en-US" dirty="0"/>
              <a:t>, 1993)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C076D-21AE-DBFA-6A22-D4130BA03253}"/>
              </a:ext>
            </a:extLst>
          </p:cNvPr>
          <p:cNvSpPr txBox="1"/>
          <p:nvPr/>
        </p:nvSpPr>
        <p:spPr>
          <a:xfrm>
            <a:off x="-1155374" y="3502736"/>
            <a:ext cx="86461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400" dirty="0"/>
              <a:t> 							8						</a:t>
            </a:r>
          </a:p>
        </p:txBody>
      </p:sp>
    </p:spTree>
    <p:extLst>
      <p:ext uri="{BB962C8B-B14F-4D97-AF65-F5344CB8AC3E}">
        <p14:creationId xmlns:p14="http://schemas.microsoft.com/office/powerpoint/2010/main" val="379266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99B4-33BE-2A11-B31E-C9FA0E47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8698-D86F-59DA-3B1F-3A7DB5C5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SNARC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B9EC2-511F-149A-2493-CD883353B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8152" cy="4351338"/>
          </a:xfrm>
        </p:spPr>
        <p:txBody>
          <a:bodyPr/>
          <a:lstStyle/>
          <a:p>
            <a:r>
              <a:rPr lang="en-US" dirty="0"/>
              <a:t>Big numbers were slow with left hand and small numbers with right</a:t>
            </a:r>
          </a:p>
          <a:p>
            <a:r>
              <a:rPr lang="en-US" dirty="0"/>
              <a:t>We associate large numbers with the right side of space and small numbers with the left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7D431-F78A-F0D9-F53C-4D024F06A4AB}"/>
              </a:ext>
            </a:extLst>
          </p:cNvPr>
          <p:cNvSpPr txBox="1"/>
          <p:nvPr/>
        </p:nvSpPr>
        <p:spPr>
          <a:xfrm>
            <a:off x="8808720" y="6488668"/>
            <a:ext cx="352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Dehaene, Bossini &amp; </a:t>
            </a:r>
            <a:r>
              <a:rPr lang="en-US" dirty="0" err="1"/>
              <a:t>Giraux</a:t>
            </a:r>
            <a:r>
              <a:rPr lang="en-US" dirty="0"/>
              <a:t>, 1993)</a:t>
            </a:r>
          </a:p>
        </p:txBody>
      </p:sp>
    </p:spTree>
    <p:extLst>
      <p:ext uri="{BB962C8B-B14F-4D97-AF65-F5344CB8AC3E}">
        <p14:creationId xmlns:p14="http://schemas.microsoft.com/office/powerpoint/2010/main" val="107159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8EF0-1FF4-EF5A-A0C0-BC5092AE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0E0E-501E-3CFB-C82F-257C02A4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A06B-C0EE-D02A-9FDA-45BF65066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4351338"/>
          </a:xfrm>
        </p:spPr>
        <p:txBody>
          <a:bodyPr/>
          <a:lstStyle/>
          <a:p>
            <a:r>
              <a:rPr lang="en-US" dirty="0"/>
              <a:t>One of the earliest symbolic tools used to depict spatial, temporal, and numerical information (e.g., maps)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31162FB0-EE44-16F7-636E-D8C9BB4F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98E2-B3CB-810F-B4FC-CA438D0E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5E3E-B4E5-E0BA-7B35-5264049F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033CB-294E-D440-0061-8C7D64867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4351338"/>
          </a:xfrm>
        </p:spPr>
        <p:txBody>
          <a:bodyPr/>
          <a:lstStyle/>
          <a:p>
            <a:r>
              <a:rPr lang="en-US" dirty="0"/>
              <a:t>One of the earliest symbolic tools used to depict spatial, temporal, and numerical information (e.g., maps)</a:t>
            </a:r>
          </a:p>
          <a:p>
            <a:endParaRPr lang="en-US" dirty="0"/>
          </a:p>
          <a:p>
            <a:r>
              <a:rPr lang="en-US" dirty="0"/>
              <a:t>Rely on basic non-symbolic magnitudes to express these relations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AB1AE173-6CC2-EC73-CA19-5AC809E35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B432-9923-E792-5AC1-380672E2F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5565-420B-C4A2-C0E4-8B4A1213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AB0B1-A3C1-D5CF-EB98-555DD8B3A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One of the earliest symbolic tools used to depict spatial, temporal, and numerical information (e.g., maps)</a:t>
            </a:r>
          </a:p>
          <a:p>
            <a:endParaRPr lang="en-US" dirty="0"/>
          </a:p>
          <a:p>
            <a:r>
              <a:rPr lang="en-US" dirty="0"/>
              <a:t>Rely on basic non-symbolic magnitudes to express these relations so do not require explicit mathematical knowledge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Big Question: </a:t>
            </a:r>
            <a:r>
              <a:rPr lang="en-US" dirty="0"/>
              <a:t>what basic abilities or intuitions underlie graph perception and, like other symbolic systems, do graphs influence those things?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1B7771A-2B90-2D55-9C4B-C1A7780D5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5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F80F-2507-38EC-FF48-03EA8092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8D7A-5E73-C166-A6A9-685900BC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SNARC effect in graphs?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C94A-1BA0-A8DD-5D7F-D1DB2D953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Numerals depict scaler magnitudes and graphs depict relations of magnitudes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EA179B58-8B33-A830-B728-963C83F4C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57" y="4595507"/>
            <a:ext cx="2874924" cy="1897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E48CC5-994B-EC91-64F5-332995B29288}"/>
              </a:ext>
            </a:extLst>
          </p:cNvPr>
          <p:cNvSpPr txBox="1"/>
          <p:nvPr/>
        </p:nvSpPr>
        <p:spPr>
          <a:xfrm>
            <a:off x="1234279" y="3747036"/>
            <a:ext cx="6238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/>
              <a:t>3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1E098F0A-9989-FF85-DB0E-C1467D914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737956" y="4841467"/>
            <a:ext cx="2874924" cy="16514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576355-A438-1071-5194-3E47085042D3}"/>
              </a:ext>
            </a:extLst>
          </p:cNvPr>
          <p:cNvSpPr txBox="1"/>
          <p:nvPr/>
        </p:nvSpPr>
        <p:spPr>
          <a:xfrm>
            <a:off x="9863473" y="3889276"/>
            <a:ext cx="6238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3252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8B29-A3D3-3028-C969-574F5828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058A4-8836-1188-7EE2-E914CF05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SNARC effect in graphs?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CB892-C5A1-6D07-38A0-EEE0D5235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Numerals depict scaler magnitudes and graphs depict relations of magnitudes</a:t>
            </a:r>
          </a:p>
          <a:p>
            <a:r>
              <a:rPr lang="en-US" dirty="0"/>
              <a:t>Similar to the SNARC effect there might be canonical spatial associations with different relations (decreasing versus increasing)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D336094A-B74A-C812-5DA9-3DF89F8D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57" y="4595507"/>
            <a:ext cx="2874924" cy="1897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87C92A-545C-8206-890D-0400C121A67B}"/>
              </a:ext>
            </a:extLst>
          </p:cNvPr>
          <p:cNvSpPr txBox="1"/>
          <p:nvPr/>
        </p:nvSpPr>
        <p:spPr>
          <a:xfrm>
            <a:off x="1234279" y="3747036"/>
            <a:ext cx="6238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/>
              <a:t>3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5E7D1509-B024-8A1A-FE71-D50C055E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737956" y="4841467"/>
            <a:ext cx="2874924" cy="16514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F29C4A-B5C1-C520-6213-36B8E3F914CC}"/>
              </a:ext>
            </a:extLst>
          </p:cNvPr>
          <p:cNvSpPr txBox="1"/>
          <p:nvPr/>
        </p:nvSpPr>
        <p:spPr>
          <a:xfrm>
            <a:off x="9863473" y="3889276"/>
            <a:ext cx="6238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47267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F9AC-6F96-EEB3-ED35-1EF02245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SNARC effect in graphs?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9A99C-2DE2-CDDC-2204-8521FE873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Decreasing graphs were more slowly perceived in the right of the screen and increasing in the left (Parrott et al., 2014)</a:t>
            </a:r>
          </a:p>
          <a:p>
            <a:endParaRPr lang="en-US" dirty="0"/>
          </a:p>
          <a:p>
            <a:r>
              <a:rPr lang="en-US" dirty="0"/>
              <a:t>Is the bias graphical/mathematical in nature or is it a low-level effect?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09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687CB-2FED-377A-1D47-02638824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AE345-45F5-1F3E-47AA-E0D2B6B4F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bias in which certain spatial positions are compatible with certain relations in graphs depend on experience with graphs?</a:t>
            </a:r>
          </a:p>
          <a:p>
            <a:endParaRPr lang="en-US" dirty="0"/>
          </a:p>
          <a:p>
            <a:r>
              <a:rPr lang="en-US" dirty="0"/>
              <a:t>RQ1 (replication): are increasing graphs judged slower in the lower and left part of a display and decreasing in the upper and right?</a:t>
            </a:r>
          </a:p>
          <a:p>
            <a:endParaRPr lang="en-US" dirty="0"/>
          </a:p>
          <a:p>
            <a:r>
              <a:rPr lang="en-US" dirty="0"/>
              <a:t>RQ2: is this bias exacerbated with more experience?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887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29C5-17DB-5B63-0A8C-A0723756D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637C0-09F4-9391-DABC-E78B2370D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1764" cy="4351338"/>
          </a:xfrm>
        </p:spPr>
        <p:txBody>
          <a:bodyPr/>
          <a:lstStyle/>
          <a:p>
            <a:r>
              <a:rPr lang="en-US" dirty="0"/>
              <a:t>Replicated Parrott et al. (2014)</a:t>
            </a:r>
          </a:p>
          <a:p>
            <a:endParaRPr lang="en-US" dirty="0"/>
          </a:p>
          <a:p>
            <a:r>
              <a:rPr lang="en-US" dirty="0"/>
              <a:t>Go/No-go visual search task </a:t>
            </a:r>
          </a:p>
          <a:p>
            <a:endParaRPr lang="en-US" dirty="0"/>
          </a:p>
          <a:p>
            <a:r>
              <a:rPr lang="en-US" dirty="0"/>
              <a:t>“Press space if you see an increasing/decreasing trend”</a:t>
            </a: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055B7C48-9486-CD27-FD7E-7E31D6B584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15"/>
          <a:stretch>
            <a:fillRect/>
          </a:stretch>
        </p:blipFill>
        <p:spPr>
          <a:xfrm>
            <a:off x="6913419" y="620581"/>
            <a:ext cx="4724400" cy="56168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DAB7893-D46A-09AC-323F-58C8240649F5}"/>
              </a:ext>
            </a:extLst>
          </p:cNvPr>
          <p:cNvSpPr/>
          <p:nvPr/>
        </p:nvSpPr>
        <p:spPr>
          <a:xfrm rot="1077191">
            <a:off x="10866913" y="1864904"/>
            <a:ext cx="1911928" cy="50707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183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0D61785-74E1-E277-C14A-A60AA3EC0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Question: </a:t>
            </a:r>
            <a:r>
              <a:rPr lang="en-US" sz="3000" dirty="0"/>
              <a:t>are increasing graphs more slowly perceived in the lower and left and increasing in the upper and right?</a:t>
            </a:r>
            <a:br>
              <a:rPr lang="en-US" sz="2200" dirty="0"/>
            </a:br>
            <a:endParaRPr lang="en-US" sz="2200" dirty="0"/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6670425-94C7-B85C-0343-5177F8B8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923" y="1690688"/>
            <a:ext cx="6198237" cy="463862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805229C-B59E-D01D-319E-4DAC01B31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48" y="2048502"/>
            <a:ext cx="545176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Significant main effects of spatial position (all </a:t>
            </a:r>
            <a:r>
              <a:rPr lang="en-US" dirty="0" err="1"/>
              <a:t>ps</a:t>
            </a:r>
            <a:r>
              <a:rPr lang="en-US" dirty="0"/>
              <a:t>&lt;.0001)</a:t>
            </a:r>
          </a:p>
          <a:p>
            <a:endParaRPr lang="en-US" dirty="0"/>
          </a:p>
          <a:p>
            <a:r>
              <a:rPr lang="en-US" dirty="0"/>
              <a:t>Significant interactions with trend (all </a:t>
            </a:r>
            <a:r>
              <a:rPr lang="en-US" dirty="0" err="1"/>
              <a:t>ps</a:t>
            </a:r>
            <a:r>
              <a:rPr lang="en-US" dirty="0"/>
              <a:t>&lt;.0001)</a:t>
            </a:r>
          </a:p>
          <a:p>
            <a:endParaRPr lang="en-US" dirty="0"/>
          </a:p>
          <a:p>
            <a:r>
              <a:rPr lang="en-US" dirty="0"/>
              <a:t>Similar to Parrott: vertical and horizontal bias for decreasing trends and only vertical bias for increasing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5B7B8-37F9-6FAD-9695-5A698310CC38}"/>
              </a:ext>
            </a:extLst>
          </p:cNvPr>
          <p:cNvSpPr txBox="1"/>
          <p:nvPr/>
        </p:nvSpPr>
        <p:spPr>
          <a:xfrm>
            <a:off x="6629401" y="215900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9C6F8-FA71-415E-B3A4-30F2CEC361E4}"/>
              </a:ext>
            </a:extLst>
          </p:cNvPr>
          <p:cNvSpPr txBox="1"/>
          <p:nvPr/>
        </p:nvSpPr>
        <p:spPr>
          <a:xfrm>
            <a:off x="8130251" y="204850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50A95-6E94-FF81-3A44-9C96CF5DB37F}"/>
              </a:ext>
            </a:extLst>
          </p:cNvPr>
          <p:cNvSpPr txBox="1"/>
          <p:nvPr/>
        </p:nvSpPr>
        <p:spPr>
          <a:xfrm>
            <a:off x="9439806" y="215900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57F2F0-4A0F-C825-33CD-60C08666C202}"/>
              </a:ext>
            </a:extLst>
          </p:cNvPr>
          <p:cNvSpPr txBox="1"/>
          <p:nvPr/>
        </p:nvSpPr>
        <p:spPr>
          <a:xfrm>
            <a:off x="10940656" y="215900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2647878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C969-4783-CA78-BB5A-A810401C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840037F-F4FF-7DE5-DB4E-96A67D7385C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Is the canonical bias exacerbated with math experience?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99AAD2-D7EE-A532-EE3C-939ECD403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792" y="2179193"/>
            <a:ext cx="10122408" cy="4351338"/>
          </a:xfrm>
        </p:spPr>
        <p:txBody>
          <a:bodyPr/>
          <a:lstStyle/>
          <a:p>
            <a:r>
              <a:rPr lang="en-US" dirty="0"/>
              <a:t>Interaction among the upper-lower contrast of position, trend and math exp. (p=0.009; left versus right and diagonal contrast </a:t>
            </a:r>
            <a:r>
              <a:rPr lang="en-US" dirty="0" err="1"/>
              <a:t>ps</a:t>
            </a:r>
            <a:r>
              <a:rPr lang="en-US" dirty="0"/>
              <a:t>&gt;0.1)</a:t>
            </a:r>
          </a:p>
          <a:p>
            <a:r>
              <a:rPr lang="en-US" dirty="0"/>
              <a:t>The effect appeared to differ by graph (p=0.056)</a:t>
            </a:r>
          </a:p>
          <a:p>
            <a:r>
              <a:rPr lang="en-US" dirty="0"/>
              <a:t>Effect of math on spatial-trend bias was significant only for bar graphs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03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A17C-2768-F181-E08B-B53849A2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6495B78-72A1-3693-845C-B3C79C90413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Is the canonical bias exacerbated with math experience?</a:t>
            </a:r>
          </a:p>
        </p:txBody>
      </p:sp>
      <p:pic>
        <p:nvPicPr>
          <p:cNvPr id="3" name="Content Placeholder 2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741DE5A3-07A6-D57C-BE62-F4119A94B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7722" y="1365504"/>
            <a:ext cx="7299934" cy="5214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6F498A-D93C-1121-7354-88E78D32E1C9}"/>
              </a:ext>
            </a:extLst>
          </p:cNvPr>
          <p:cNvSpPr txBox="1"/>
          <p:nvPr/>
        </p:nvSpPr>
        <p:spPr>
          <a:xfrm>
            <a:off x="7290816" y="232173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BC49A-619A-9915-7D75-1DDD200FE082}"/>
              </a:ext>
            </a:extLst>
          </p:cNvPr>
          <p:cNvSpPr txBox="1"/>
          <p:nvPr/>
        </p:nvSpPr>
        <p:spPr>
          <a:xfrm>
            <a:off x="5884243" y="223113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CB5B3-FF3A-FAB8-6558-B445347B12A9}"/>
              </a:ext>
            </a:extLst>
          </p:cNvPr>
          <p:cNvSpPr txBox="1"/>
          <p:nvPr/>
        </p:nvSpPr>
        <p:spPr>
          <a:xfrm>
            <a:off x="9075619" y="232173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511A8-0630-587C-C9CF-6E04AB1F9591}"/>
              </a:ext>
            </a:extLst>
          </p:cNvPr>
          <p:cNvSpPr txBox="1"/>
          <p:nvPr/>
        </p:nvSpPr>
        <p:spPr>
          <a:xfrm>
            <a:off x="10544888" y="232352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019E4E-EFEB-CCEF-F195-9644EDDAD7D2}"/>
              </a:ext>
            </a:extLst>
          </p:cNvPr>
          <p:cNvSpPr txBox="1"/>
          <p:nvPr/>
        </p:nvSpPr>
        <p:spPr>
          <a:xfrm>
            <a:off x="7877663" y="6488668"/>
            <a:ext cx="1343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 Graphs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E14BD-1C75-885A-21A4-CA787252FDA3}"/>
              </a:ext>
            </a:extLst>
          </p:cNvPr>
          <p:cNvSpPr txBox="1"/>
          <p:nvPr/>
        </p:nvSpPr>
        <p:spPr>
          <a:xfrm>
            <a:off x="422143" y="2137069"/>
            <a:ext cx="39555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Decreasing Trends: </a:t>
            </a:r>
            <a:r>
              <a:rPr lang="en-US" dirty="0"/>
              <a:t>significantly larger and canonical upper-lower difference for math evaluated at High (+1 SD) compared to Low ( -1 SD) Math (b=-47.4, p=0.0465)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994352-D701-1F25-6651-7AB500E58A55}"/>
              </a:ext>
            </a:extLst>
          </p:cNvPr>
          <p:cNvSpPr txBox="1"/>
          <p:nvPr/>
        </p:nvSpPr>
        <p:spPr>
          <a:xfrm>
            <a:off x="422143" y="3972623"/>
            <a:ext cx="40645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Increasing Trends: </a:t>
            </a:r>
            <a:r>
              <a:rPr lang="en-US" dirty="0"/>
              <a:t>significantly larger reverse-bias upper-lower difference for math evaluated at High (-1 SD) compared to Low ( +1 SD) Math (b=61.8, p=0.011)</a:t>
            </a:r>
          </a:p>
        </p:txBody>
      </p:sp>
    </p:spTree>
    <p:extLst>
      <p:ext uri="{BB962C8B-B14F-4D97-AF65-F5344CB8AC3E}">
        <p14:creationId xmlns:p14="http://schemas.microsoft.com/office/powerpoint/2010/main" val="379608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B76D-18A3-B07E-896F-C30A2AFB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A9CF43D-5399-EFE3-62A8-8069A344AC1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Is the canonical bias exacerbated with math experience?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A0E66-1AC9-9738-75E6-4493A73EFC90}"/>
              </a:ext>
            </a:extLst>
          </p:cNvPr>
          <p:cNvSpPr/>
          <p:nvPr/>
        </p:nvSpPr>
        <p:spPr>
          <a:xfrm>
            <a:off x="8839200" y="1843088"/>
            <a:ext cx="3267456" cy="4500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AC9118BF-F744-CC8C-827F-386138642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103" y="1225394"/>
            <a:ext cx="7254097" cy="5428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2C55D4-C8CB-82FB-6B69-701F89B9EECA}"/>
              </a:ext>
            </a:extLst>
          </p:cNvPr>
          <p:cNvSpPr txBox="1"/>
          <p:nvPr/>
        </p:nvSpPr>
        <p:spPr>
          <a:xfrm>
            <a:off x="5805536" y="341008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CC506-251A-3DBD-6E40-F29BB425D8B9}"/>
              </a:ext>
            </a:extLst>
          </p:cNvPr>
          <p:cNvSpPr txBox="1"/>
          <p:nvPr/>
        </p:nvSpPr>
        <p:spPr>
          <a:xfrm>
            <a:off x="7177136" y="341008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9FF80-A22D-252F-CF32-26F6B4A894B0}"/>
              </a:ext>
            </a:extLst>
          </p:cNvPr>
          <p:cNvSpPr txBox="1"/>
          <p:nvPr/>
        </p:nvSpPr>
        <p:spPr>
          <a:xfrm>
            <a:off x="10471340" y="324433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9EE24-F2C3-93D4-F5EC-EC314682A4ED}"/>
              </a:ext>
            </a:extLst>
          </p:cNvPr>
          <p:cNvSpPr txBox="1"/>
          <p:nvPr/>
        </p:nvSpPr>
        <p:spPr>
          <a:xfrm>
            <a:off x="8924544" y="5922323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51B6F-2681-2FE9-4DF1-1335FB2ACAC6}"/>
              </a:ext>
            </a:extLst>
          </p:cNvPr>
          <p:cNvSpPr txBox="1"/>
          <p:nvPr/>
        </p:nvSpPr>
        <p:spPr>
          <a:xfrm>
            <a:off x="685800" y="2304288"/>
            <a:ext cx="27401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Math  experience did not influence biases in scatter plots or any horizontal biases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145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1B7A-50C9-9091-1B22-3AC4F06C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spatial biases modulated by experience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C2B8289-668A-0D88-E7A9-5D7795A72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Math experience modulated vertical but not horizontal biases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effects in scatter plots</a:t>
            </a:r>
          </a:p>
          <a:p>
            <a:r>
              <a:rPr lang="en-US" dirty="0"/>
              <a:t>Cartesian coordinate grid used in math courses taken by all participants they may be similar to scatter plots; more experience with bar graphs might come from scientific endeavors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reverse bias for increasing graphs that reduces with experience</a:t>
            </a:r>
          </a:p>
          <a:p>
            <a:r>
              <a:rPr lang="en-US" dirty="0"/>
              <a:t>Possibly a default bias to read graphs in the lower visual field that changes with experience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73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4C85-4742-0A1F-FCC3-C9B646A9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Question: what underlies graph perception?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0985-CFBB-6BFC-751B-1A803DE29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79208" cy="4351338"/>
          </a:xfrm>
        </p:spPr>
        <p:txBody>
          <a:bodyPr>
            <a:normAutofit/>
          </a:bodyPr>
          <a:lstStyle/>
          <a:p>
            <a:r>
              <a:rPr lang="en-US" dirty="0"/>
              <a:t>Vertical bias learned through experience with graphs </a:t>
            </a:r>
          </a:p>
          <a:p>
            <a:endParaRPr lang="en-US" dirty="0"/>
          </a:p>
          <a:p>
            <a:r>
              <a:rPr lang="en-US" dirty="0"/>
              <a:t>Left-right bias might arise from shared spatial and relational bias to numerical magnitude (i.e.: Right-&gt; Big &lt;- Increasing) </a:t>
            </a:r>
          </a:p>
          <a:p>
            <a:endParaRPr lang="en-US" dirty="0"/>
          </a:p>
          <a:p>
            <a:r>
              <a:rPr lang="en-US" dirty="0"/>
              <a:t>Does graph perception really recruit such seemingly abstract mathematical thinking?</a:t>
            </a:r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389FD336-3ECD-F038-94D2-EC737B5DA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637" y="1409713"/>
            <a:ext cx="2874924" cy="18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40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54EA-F845-71D9-7C28-6AFD5DD6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2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8160-DBFC-94B8-863D-36CD6DB3F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 trends in graphs have numerical associations: does the numerosity of an array influence judgements of its trend depending on trend direction?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02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4EA4-D7F4-BE8D-D198-A90E4E12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9631-8549-A602-92E2-AF981802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A59B6-430A-6AA8-6423-2C361AA44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374081" cy="4351338"/>
          </a:xfrm>
        </p:spPr>
        <p:txBody>
          <a:bodyPr>
            <a:normAutofit/>
          </a:bodyPr>
          <a:lstStyle/>
          <a:p>
            <a:r>
              <a:rPr lang="en-US" dirty="0"/>
              <a:t>Trend and Number task between-subjects</a:t>
            </a:r>
          </a:p>
          <a:p>
            <a:endParaRPr lang="en-US" dirty="0"/>
          </a:p>
          <a:p>
            <a:r>
              <a:rPr lang="en-US" dirty="0"/>
              <a:t>Arrays had few (8-14) or many (15-22) points with increasing or decreasing trends</a:t>
            </a:r>
          </a:p>
          <a:p>
            <a:endParaRPr lang="en-US" dirty="0"/>
          </a:p>
          <a:p>
            <a:r>
              <a:rPr lang="en-US" dirty="0"/>
              <a:t>Task: Compare bottom array to top neutral array with 0 trend and 15 points</a:t>
            </a:r>
          </a:p>
        </p:txBody>
      </p:sp>
      <p:pic>
        <p:nvPicPr>
          <p:cNvPr id="6" name="Content Placeholder 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F6BF8D64-D786-FC6C-93C0-79C437F7F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279" y="1253331"/>
            <a:ext cx="4859613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4A7AA9-3D18-D685-FE7E-75D56F66C9D9}"/>
              </a:ext>
            </a:extLst>
          </p:cNvPr>
          <p:cNvSpPr txBox="1"/>
          <p:nvPr/>
        </p:nvSpPr>
        <p:spPr>
          <a:xfrm>
            <a:off x="7332387" y="5715298"/>
            <a:ext cx="4859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P and Q to indicate if the trend above is (increasing/decreasing) or (more/less numerous) compared to bottom array </a:t>
            </a:r>
          </a:p>
        </p:txBody>
      </p:sp>
    </p:spTree>
    <p:extLst>
      <p:ext uri="{BB962C8B-B14F-4D97-AF65-F5344CB8AC3E}">
        <p14:creationId xmlns:p14="http://schemas.microsoft.com/office/powerpoint/2010/main" val="4117968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13BB-0B30-64CC-51C8-3EBA011F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Does numerosity of an array influence judgements of its trend depending on trend direction?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06F4330-DD8E-942E-ACD9-94432BB9BA7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69883F1-53FD-B9F6-0052-85400440EE98}"/>
              </a:ext>
            </a:extLst>
          </p:cNvPr>
          <p:cNvSpPr txBox="1">
            <a:spLocks/>
          </p:cNvSpPr>
          <p:nvPr/>
        </p:nvSpPr>
        <p:spPr>
          <a:xfrm>
            <a:off x="990601" y="1978025"/>
            <a:ext cx="35256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More numerosity reduced reaction time for increasing trends but not for decreasing trends </a:t>
            </a:r>
          </a:p>
          <a:p>
            <a:pPr marL="0" indent="0">
              <a:buNone/>
            </a:pPr>
            <a:r>
              <a:rPr lang="en-US" sz="1800" dirty="0"/>
              <a:t>(b = −0.034, SE = 0.011, z = −3.13, </a:t>
            </a:r>
            <a:r>
              <a:rPr lang="en-US" sz="1800" b="1" dirty="0"/>
              <a:t>p = .0017</a:t>
            </a:r>
            <a:r>
              <a:rPr lang="en-US" sz="1800" dirty="0"/>
              <a:t>)</a:t>
            </a:r>
          </a:p>
          <a:p>
            <a:endParaRPr lang="en-US" sz="1800" dirty="0"/>
          </a:p>
        </p:txBody>
      </p:sp>
      <p:pic>
        <p:nvPicPr>
          <p:cNvPr id="15" name="Picture 14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0F312A4C-7B9C-1954-BAC7-6DA73D78A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389"/>
          <a:stretch>
            <a:fillRect/>
          </a:stretch>
        </p:blipFill>
        <p:spPr>
          <a:xfrm>
            <a:off x="5219003" y="1978025"/>
            <a:ext cx="5565852" cy="4663440"/>
          </a:xfrm>
          <a:prstGeom prst="rect">
            <a:avLst/>
          </a:prstGeom>
        </p:spPr>
      </p:pic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ABCC06EC-EA90-E917-82D0-117A6C88A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6056" b="32134"/>
          <a:stretch>
            <a:fillRect/>
          </a:stretch>
        </p:blipFill>
        <p:spPr>
          <a:xfrm>
            <a:off x="10247290" y="2444128"/>
            <a:ext cx="1980022" cy="29530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4CBF01-0F50-5D41-19E0-DB44D965C7DB}"/>
              </a:ext>
            </a:extLst>
          </p:cNvPr>
          <p:cNvSpPr txBox="1"/>
          <p:nvPr/>
        </p:nvSpPr>
        <p:spPr>
          <a:xfrm>
            <a:off x="9148270" y="277665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15890-E92A-2573-44B1-AEB5AB948D27}"/>
              </a:ext>
            </a:extLst>
          </p:cNvPr>
          <p:cNvSpPr txBox="1"/>
          <p:nvPr/>
        </p:nvSpPr>
        <p:spPr>
          <a:xfrm>
            <a:off x="7097876" y="259198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3997547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F8361-87AF-5D94-BEBE-8FA7FA8E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0B6C-D22C-AD8E-872E-0DF8FB93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338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Does the trend of an array influence judgements of its numerosity?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106C38-3AD1-403D-A654-64E45541286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1517BA-4C87-2BEB-6687-5F60B755F4F2}"/>
              </a:ext>
            </a:extLst>
          </p:cNvPr>
          <p:cNvSpPr txBox="1">
            <a:spLocks/>
          </p:cNvSpPr>
          <p:nvPr/>
        </p:nvSpPr>
        <p:spPr>
          <a:xfrm>
            <a:off x="990601" y="1978025"/>
            <a:ext cx="35256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Trend had no influence on judgements of numerosity</a:t>
            </a:r>
          </a:p>
          <a:p>
            <a:pPr marL="0" indent="0">
              <a:buNone/>
            </a:pPr>
            <a:r>
              <a:rPr lang="en-US" sz="1800" dirty="0"/>
              <a:t>(b = 0.002, SE = 0.001, z = 1.66, p = .098)</a:t>
            </a:r>
          </a:p>
          <a:p>
            <a:endParaRPr lang="en-US" sz="1800" dirty="0"/>
          </a:p>
        </p:txBody>
      </p:sp>
      <p:pic>
        <p:nvPicPr>
          <p:cNvPr id="15" name="Picture 14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338BEF66-4273-B878-75E4-B234D851AA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389"/>
          <a:stretch>
            <a:fillRect/>
          </a:stretch>
        </p:blipFill>
        <p:spPr>
          <a:xfrm>
            <a:off x="5219003" y="1978025"/>
            <a:ext cx="5565852" cy="46634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28A6AB-0991-1793-DFE9-604DE48962E0}"/>
              </a:ext>
            </a:extLst>
          </p:cNvPr>
          <p:cNvSpPr txBox="1"/>
          <p:nvPr/>
        </p:nvSpPr>
        <p:spPr>
          <a:xfrm>
            <a:off x="9148270" y="277665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</a:t>
            </a:r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5812A74-E340-3BC4-F007-8B5E17113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103"/>
          <a:stretch>
            <a:fillRect/>
          </a:stretch>
        </p:blipFill>
        <p:spPr>
          <a:xfrm>
            <a:off x="5219003" y="1978025"/>
            <a:ext cx="5588155" cy="4663440"/>
          </a:xfrm>
          <a:prstGeom prst="rect">
            <a:avLst/>
          </a:prstGeom>
        </p:spPr>
      </p:pic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BBD14CB1-D64C-ECD9-8C38-11A6FDFE3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76056" b="32134"/>
          <a:stretch>
            <a:fillRect/>
          </a:stretch>
        </p:blipFill>
        <p:spPr>
          <a:xfrm>
            <a:off x="10247290" y="2444128"/>
            <a:ext cx="1980022" cy="295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C740B-8644-3643-63D3-AB9C60C9FC36}"/>
              </a:ext>
            </a:extLst>
          </p:cNvPr>
          <p:cNvSpPr txBox="1"/>
          <p:nvPr/>
        </p:nvSpPr>
        <p:spPr>
          <a:xfrm>
            <a:off x="7083812" y="2591987"/>
            <a:ext cx="6116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27FF8-CA09-ED69-3F1B-479727DB465E}"/>
              </a:ext>
            </a:extLst>
          </p:cNvPr>
          <p:cNvSpPr txBox="1"/>
          <p:nvPr/>
        </p:nvSpPr>
        <p:spPr>
          <a:xfrm>
            <a:off x="9148270" y="2591987"/>
            <a:ext cx="660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295294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1047</Words>
  <Application>Microsoft Macintosh PowerPoint</Application>
  <PresentationFormat>Widescreen</PresentationFormat>
  <Paragraphs>131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Spatial and numerical associations in graphs</vt:lpstr>
      <vt:lpstr>Cultural tools influence cognition</vt:lpstr>
      <vt:lpstr>Cultural tools influence cognition</vt:lpstr>
      <vt:lpstr>SNARC effect</vt:lpstr>
      <vt:lpstr>SNARC effect</vt:lpstr>
      <vt:lpstr>SNARC effect</vt:lpstr>
      <vt:lpstr>SNARC effect</vt:lpstr>
      <vt:lpstr>Graphs</vt:lpstr>
      <vt:lpstr>Graphs</vt:lpstr>
      <vt:lpstr>Graphs</vt:lpstr>
      <vt:lpstr>A SNARC effect in graphs?</vt:lpstr>
      <vt:lpstr>A SNARC effect in graphs?</vt:lpstr>
      <vt:lpstr>A SNARC effect in graphs?</vt:lpstr>
      <vt:lpstr>Research Question</vt:lpstr>
      <vt:lpstr>Method</vt:lpstr>
      <vt:lpstr>Question: are increasing graphs more slowly perceived in the lower and left and increasing in the upper and right? </vt:lpstr>
      <vt:lpstr>PowerPoint Presentation</vt:lpstr>
      <vt:lpstr>PowerPoint Presentation</vt:lpstr>
      <vt:lpstr>PowerPoint Presentation</vt:lpstr>
      <vt:lpstr>Discussion: spatial biases modulated by experience</vt:lpstr>
      <vt:lpstr>Big Question: what underlies graph perception?</vt:lpstr>
      <vt:lpstr>Study 2 Research Question</vt:lpstr>
      <vt:lpstr>Method</vt:lpstr>
      <vt:lpstr>Does numerosity of an array influence judgements of its trend depending on trend direction?</vt:lpstr>
      <vt:lpstr>Does the trend of an array influence judgements of its numerosity?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Robert Tarantino</dc:creator>
  <cp:lastModifiedBy>Nick Robert Tarantino</cp:lastModifiedBy>
  <cp:revision>6</cp:revision>
  <dcterms:created xsi:type="dcterms:W3CDTF">2026-03-23T18:23:02Z</dcterms:created>
  <dcterms:modified xsi:type="dcterms:W3CDTF">2026-04-16T19:38:34Z</dcterms:modified>
</cp:coreProperties>
</file>