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98" r:id="rId4"/>
    <p:sldId id="299" r:id="rId5"/>
    <p:sldId id="302" r:id="rId6"/>
    <p:sldId id="315" r:id="rId7"/>
    <p:sldId id="301" r:id="rId8"/>
    <p:sldId id="300" r:id="rId9"/>
    <p:sldId id="304" r:id="rId10"/>
    <p:sldId id="310" r:id="rId11"/>
    <p:sldId id="311" r:id="rId12"/>
    <p:sldId id="312" r:id="rId13"/>
    <p:sldId id="305" r:id="rId14"/>
    <p:sldId id="316" r:id="rId15"/>
    <p:sldId id="306" r:id="rId16"/>
    <p:sldId id="308" r:id="rId17"/>
    <p:sldId id="313" r:id="rId18"/>
    <p:sldId id="3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99"/>
  </p:normalViewPr>
  <p:slideViewPr>
    <p:cSldViewPr snapToGrid="0">
      <p:cViewPr varScale="1">
        <p:scale>
          <a:sx n="52" d="100"/>
          <a:sy n="52" d="100"/>
        </p:scale>
        <p:origin x="200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B6F1-FB72-8A96-9912-26855D391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8DC0D-3F7D-4102-7C0E-547C8F7F0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F47C1-200B-73F9-2C24-94E0615B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B51F8-A9E4-00D8-217D-033620A0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45A2-4475-42FC-43AB-80774A60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4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B4A6-F74F-8161-5AF6-7657F28C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F891-9936-FBFC-BC8B-7A9D2255D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4BF8B-879E-43B1-9DC3-D3266095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5B5B-41B5-710C-6DFC-C7C9D21F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77C1-4509-F962-3554-3FA3C72A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3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B8C2-94A3-116A-23BD-70D68AFA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E4FCE-35D6-CCA6-1639-87CE6EC7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7792-BB07-758D-4206-F4E19D81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49A1-6E6C-DE47-113B-EE262BAB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EC77-7850-E6F9-1B43-CA0B9EF7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8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F528-BABA-4FC5-29F2-C4508047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040A-6495-D5FE-7F5F-81523E8D7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EB5B-B0BF-3CCB-41B9-B8D792E86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A7D0B-601A-42EE-A7DC-F8D99966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75D79-FD14-DBCF-ECD3-4F6AB88D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48E3-D232-C21E-5EBD-1AB7903B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E395-00B9-2ABF-9BC8-2B47ACF5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A2CF-6318-5947-C51E-6A8EC03F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B93ED-2434-9138-171D-E1987CAD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B9D97-0AFD-F42D-EEDE-ABF68555A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5F212-E9E7-00B5-1EA7-055C64162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095F6-3D9B-26B6-0B79-65AA0208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6E9DE-C27C-9BF5-1004-3D80ED8B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48C41-1BE7-2AD8-9403-B69E3FC2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8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99C1-95BA-4BDF-639D-3D79D4C1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6E455-519C-792E-2862-9C8D6DA9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5BCCA-01DE-5896-0197-4B1CC5FB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8410-3BFB-D7BC-A7D8-FBF61C98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ABBA3-3B42-F385-30F9-44BAE192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C67A8-B346-F332-1FC2-A09AFE1C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0FE9-3F69-F66D-F73B-EC40D74A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F288-70E6-008C-54F0-0B76EF8C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B755-F6E8-6F97-AB5C-2FC9E3CF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9286-5106-5BA7-010C-7680E946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A33AD-16D8-18BA-A309-6FFDB3E1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D350-C29C-BEA7-5ED3-7CCD04F2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8533A-0D4F-CA16-C471-523B2044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36AD-3B2D-2AEE-A55E-10E9A509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0AD5C-21E7-1C03-027D-6CA036B3B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E9FDD-E7B7-7F39-B6C0-46C1988E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C01A7-1726-2DA5-5806-48D84224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D4EE5-207E-DC56-9433-39A826F0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F1968-3209-56E6-F41C-3917C3B5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7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6C3-907A-9D30-7A12-4B9977EB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69E83-1221-2205-AAAA-8DEF9AD7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346E-BA95-BAF1-8850-7EF9587E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9930-6595-C992-BBB3-5C7E4864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7768-FC06-EF1A-CF4D-BFE9C4E6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2A5A9-B52E-9786-6D7D-384570358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60378-454A-A11E-5849-A5ADEBDC4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8332-D651-BD2F-6DFD-EF746C61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937D-671C-A7F6-7678-DA31549C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D314A-D995-55EC-60E6-E15BCB9A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A00DF-3E5B-9009-AD04-581EE3B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4554-705C-3C90-8466-31615868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C794F-3810-B078-F863-3801DF86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E27B-EBAB-9E42-833F-C00D86766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9AFE-3F19-56F4-62FC-250DCB80D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F4F9-9B72-B12E-4C11-33FDCE93B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 Numerical Associations in Linear Trends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17263-E660-E429-85EF-BA6BFA994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Tarantino and Martha W. Alibali</a:t>
            </a:r>
          </a:p>
        </p:txBody>
      </p:sp>
    </p:spTree>
    <p:extLst>
      <p:ext uri="{BB962C8B-B14F-4D97-AF65-F5344CB8AC3E}">
        <p14:creationId xmlns:p14="http://schemas.microsoft.com/office/powerpoint/2010/main" val="144674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8EF0-1FF4-EF5A-A0C0-BC5092AE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0E0E-501E-3CFB-C82F-257C02A4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A06B-C0EE-D02A-9FDA-45BF6506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4351338"/>
          </a:xfrm>
        </p:spPr>
        <p:txBody>
          <a:bodyPr/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31162FB0-EE44-16F7-636E-D8C9BB4F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AD4F-29AB-C52A-C67D-31525F2C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654F-E2B2-CF1D-0944-864EEF89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E928-3BB1-F92A-BDA5-66923DB1A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/>
              <a:t>One of the earliest symbolic tools used to depict spatial, temporal, and numerical information</a:t>
            </a:r>
          </a:p>
          <a:p>
            <a:endParaRPr lang="en-US" dirty="0"/>
          </a:p>
          <a:p>
            <a:r>
              <a:rPr lang="en-US" dirty="0"/>
              <a:t>Rely on perceptually basic non-symbolic magnitudes to depict this information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5A5307E-6231-16E6-FF68-5EB904598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9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D195-FD28-F13F-8301-03F6C9F1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90C5-08CB-74BE-454F-22CC82DC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E67C4-7950-4708-18DB-B13CD46F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/>
              <a:t>One of the earliest symbolic tools used to depict spatial, temporal, and numerical information</a:t>
            </a:r>
          </a:p>
          <a:p>
            <a:endParaRPr lang="en-US" dirty="0"/>
          </a:p>
          <a:p>
            <a:r>
              <a:rPr lang="en-US" dirty="0"/>
              <a:t>Rely on perceptually basic non-symbolic magnitudes to depict this information</a:t>
            </a:r>
          </a:p>
          <a:p>
            <a:endParaRPr lang="en-US" dirty="0"/>
          </a:p>
          <a:p>
            <a:r>
              <a:rPr lang="en-US" dirty="0"/>
              <a:t>So simple, that people without mathematics education and non-human primates can judge trends in graphs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A11937D-621D-0938-6BA5-1FAC93E33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48F6A91-E074-B1B4-7EDD-F44B61C7FBDF}"/>
              </a:ext>
            </a:extLst>
          </p:cNvPr>
          <p:cNvSpPr txBox="1"/>
          <p:nvPr/>
        </p:nvSpPr>
        <p:spPr>
          <a:xfrm>
            <a:off x="3588536" y="129027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70603F-7302-0CBD-3469-1DEB5BCB295B}"/>
              </a:ext>
            </a:extLst>
          </p:cNvPr>
          <p:cNvSpPr txBox="1"/>
          <p:nvPr/>
        </p:nvSpPr>
        <p:spPr>
          <a:xfrm>
            <a:off x="469962" y="1269604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B02D82A3-1EC8-CBE5-15C2-3429579FD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053748"/>
              </p:ext>
            </p:extLst>
          </p:nvPr>
        </p:nvGraphicFramePr>
        <p:xfrm>
          <a:off x="243047" y="1795541"/>
          <a:ext cx="20054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723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002723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314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79FBCE-AC1B-D5C6-08AB-DF117636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63919"/>
              </p:ext>
            </p:extLst>
          </p:nvPr>
        </p:nvGraphicFramePr>
        <p:xfrm>
          <a:off x="3242527" y="1795541"/>
          <a:ext cx="20308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455253D-6BE3-6129-D8B5-AC73798503C0}"/>
              </a:ext>
            </a:extLst>
          </p:cNvPr>
          <p:cNvSpPr txBox="1"/>
          <p:nvPr/>
        </p:nvSpPr>
        <p:spPr>
          <a:xfrm>
            <a:off x="424304" y="483638"/>
            <a:ext cx="64949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Which data set has a positive correlation?</a:t>
            </a:r>
          </a:p>
        </p:txBody>
      </p:sp>
    </p:spTree>
    <p:extLst>
      <p:ext uri="{BB962C8B-B14F-4D97-AF65-F5344CB8AC3E}">
        <p14:creationId xmlns:p14="http://schemas.microsoft.com/office/powerpoint/2010/main" val="241884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B38C-9766-297F-00D5-A94F99FC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F596BFA-679C-4073-2360-527582BDD1B1}"/>
              </a:ext>
            </a:extLst>
          </p:cNvPr>
          <p:cNvSpPr txBox="1"/>
          <p:nvPr/>
        </p:nvSpPr>
        <p:spPr>
          <a:xfrm>
            <a:off x="3588536" y="129027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3C393-66DE-1377-0A68-C9B4BB2C524D}"/>
              </a:ext>
            </a:extLst>
          </p:cNvPr>
          <p:cNvSpPr txBox="1"/>
          <p:nvPr/>
        </p:nvSpPr>
        <p:spPr>
          <a:xfrm>
            <a:off x="469962" y="1269604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98169B0A-E14D-1959-2B35-D587EB5271A6}"/>
              </a:ext>
            </a:extLst>
          </p:cNvPr>
          <p:cNvGraphicFramePr>
            <a:graphicFrameLocks/>
          </p:cNvGraphicFramePr>
          <p:nvPr/>
        </p:nvGraphicFramePr>
        <p:xfrm>
          <a:off x="243047" y="1795541"/>
          <a:ext cx="20054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723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002723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314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0D2E28-918D-D294-C1AF-1DDE02A13005}"/>
              </a:ext>
            </a:extLst>
          </p:cNvPr>
          <p:cNvGraphicFramePr>
            <a:graphicFrameLocks noGrp="1"/>
          </p:cNvGraphicFramePr>
          <p:nvPr/>
        </p:nvGraphicFramePr>
        <p:xfrm>
          <a:off x="3242527" y="1795541"/>
          <a:ext cx="20308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4A4801-1A77-5A0E-CF5F-91DDBC8CE622}"/>
              </a:ext>
            </a:extLst>
          </p:cNvPr>
          <p:cNvSpPr txBox="1"/>
          <p:nvPr/>
        </p:nvSpPr>
        <p:spPr>
          <a:xfrm>
            <a:off x="424304" y="452637"/>
            <a:ext cx="64949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Which data set has a positive correlation?</a:t>
            </a:r>
          </a:p>
        </p:txBody>
      </p:sp>
      <p:pic>
        <p:nvPicPr>
          <p:cNvPr id="4" name="Picture 3" descr="A diagram of blue dots&#10;&#10;AI-generated content may be incorrect.">
            <a:extLst>
              <a:ext uri="{FF2B5EF4-FFF2-40B4-BE49-F238E27FC236}">
                <a16:creationId xmlns:a16="http://schemas.microsoft.com/office/drawing/2014/main" id="{02CC9B00-1CB8-361C-2B36-E436D704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637" y="1096914"/>
            <a:ext cx="3298489" cy="2182582"/>
          </a:xfrm>
          <a:prstGeom prst="rect">
            <a:avLst/>
          </a:prstGeom>
        </p:spPr>
      </p:pic>
      <p:pic>
        <p:nvPicPr>
          <p:cNvPr id="5" name="Picture 4" descr="A white background with blue dots&#10;&#10;AI-generated content may be incorrect.">
            <a:extLst>
              <a:ext uri="{FF2B5EF4-FFF2-40B4-BE49-F238E27FC236}">
                <a16:creationId xmlns:a16="http://schemas.microsoft.com/office/drawing/2014/main" id="{F4658AC4-58C8-9DF2-24B5-00D972AF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1"/>
          <a:stretch>
            <a:fillRect/>
          </a:stretch>
        </p:blipFill>
        <p:spPr>
          <a:xfrm>
            <a:off x="7280910" y="4208028"/>
            <a:ext cx="3249930" cy="2182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FB70E-4857-0E75-0469-B856F3100ECB}"/>
              </a:ext>
            </a:extLst>
          </p:cNvPr>
          <p:cNvSpPr txBox="1"/>
          <p:nvPr/>
        </p:nvSpPr>
        <p:spPr>
          <a:xfrm>
            <a:off x="8236461" y="38386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EC833-6693-8EC4-7304-1B11BD0F93D8}"/>
              </a:ext>
            </a:extLst>
          </p:cNvPr>
          <p:cNvSpPr txBox="1"/>
          <p:nvPr/>
        </p:nvSpPr>
        <p:spPr>
          <a:xfrm>
            <a:off x="8236461" y="353048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</p:spTree>
    <p:extLst>
      <p:ext uri="{BB962C8B-B14F-4D97-AF65-F5344CB8AC3E}">
        <p14:creationId xmlns:p14="http://schemas.microsoft.com/office/powerpoint/2010/main" val="75544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CD49-DA17-4A85-0F06-8E50C747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6687-165E-E00C-600B-8FD58AB9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E7F4-E63D-EC45-1A0E-DDE493D4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/>
              <a:t>Despite their simplicity, graphs facilitate highly complex mathematical thinking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line with a line and a line with a line&#10;&#10;AI-generated content may be incorrect.">
            <a:extLst>
              <a:ext uri="{FF2B5EF4-FFF2-40B4-BE49-F238E27FC236}">
                <a16:creationId xmlns:a16="http://schemas.microsoft.com/office/drawing/2014/main" id="{75D8CC80-F34A-46E3-8243-7C29B838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66" y="2103789"/>
            <a:ext cx="3131634" cy="32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5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F69D-95BF-B742-6A4A-7BFC32FF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1E2D-98E4-8A2E-D45A-403D7B53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4B2E-B383-C4D5-B096-30F5A38AE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/>
              <a:t>Despite their simplicity, graphs facilitate highly complex mathematical thinking</a:t>
            </a:r>
          </a:p>
          <a:p>
            <a:endParaRPr lang="en-US" dirty="0"/>
          </a:p>
          <a:p>
            <a:r>
              <a:rPr lang="en-US" dirty="0"/>
              <a:t>Does this basic perception of graphs still activate quantitative representations?</a:t>
            </a:r>
          </a:p>
          <a:p>
            <a:pPr lvl="1"/>
            <a:r>
              <a:rPr lang="en-US" dirty="0"/>
              <a:t>Such as number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line with a line and a line with a line&#10;&#10;AI-generated content may be incorrect.">
            <a:extLst>
              <a:ext uri="{FF2B5EF4-FFF2-40B4-BE49-F238E27FC236}">
                <a16:creationId xmlns:a16="http://schemas.microsoft.com/office/drawing/2014/main" id="{E82DF06F-6D54-992B-28A9-AB6A22947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66" y="2103789"/>
            <a:ext cx="3131634" cy="32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1A90-564A-7154-47EF-53A67886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7C4C-425B-AB16-73C6-B073A85EE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575F8-4BDD-AEA0-7BDF-36DAAABC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940C-1CAF-E6E0-F888-CB29476F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A8FA-5B58-5637-454E-39358A00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9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8D47-5658-4771-09F0-2C861B70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1A37-ECAD-0C46-DDD0-A3A63C14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6CA9-C5B2-6569-3058-E933198A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r>
              <a:rPr lang="en-US" dirty="0"/>
              <a:t>If performance differs as a function of this putative congruency then participants must be recruiting these abstract associations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CD7E-4823-7FE6-59A7-1596D018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0B41-E41A-01CB-FD09-13E5BCD9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59E7-9ED2-E5E5-3273-9B830864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r>
              <a:rPr lang="en-US" dirty="0"/>
              <a:t>If performance differs as a function of this putative congruency then participants must be recruiting these abstract associations</a:t>
            </a:r>
          </a:p>
          <a:p>
            <a:r>
              <a:rPr lang="en-US" dirty="0"/>
              <a:t>Should appear when judging trend not number because trend is irrelevant to judgements of number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3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9240-6667-AE1A-65F3-BEC992AD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FA30-8A99-3F11-E75F-3AF500B5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2996-BB83-5070-224A-C1CD5ECF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203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82 undergraduates compared dot arrays online </a:t>
            </a:r>
          </a:p>
          <a:p>
            <a:endParaRPr lang="en-US" dirty="0"/>
          </a:p>
          <a:p>
            <a:r>
              <a:rPr lang="en-US" dirty="0"/>
              <a:t>Trend and Number task between-subjects</a:t>
            </a:r>
          </a:p>
          <a:p>
            <a:endParaRPr lang="en-US" dirty="0"/>
          </a:p>
          <a:p>
            <a:r>
              <a:rPr lang="en-US" dirty="0"/>
              <a:t>Arrays had few (8-14) or many (15-22) points with increasing or decreasing trends</a:t>
            </a:r>
          </a:p>
          <a:p>
            <a:endParaRPr lang="en-US" dirty="0"/>
          </a:p>
          <a:p>
            <a:r>
              <a:rPr lang="en-US" dirty="0"/>
              <a:t>Task: Compare bottom array to top neutral array with 0 trend and 15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CF5641A-3559-3C32-B5EA-BC0F20C6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422" y="1825625"/>
            <a:ext cx="4220470" cy="3779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BE9986-D045-2F33-79E3-17E7F4E8268D}"/>
              </a:ext>
            </a:extLst>
          </p:cNvPr>
          <p:cNvSpPr txBox="1"/>
          <p:nvPr/>
        </p:nvSpPr>
        <p:spPr>
          <a:xfrm>
            <a:off x="7857173" y="5739606"/>
            <a:ext cx="4334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P and Q to indicate if the trend of array on bottom is (increasing/decreasing) or (more/less numerous) compared to top</a:t>
            </a:r>
          </a:p>
        </p:txBody>
      </p:sp>
    </p:spTree>
    <p:extLst>
      <p:ext uri="{BB962C8B-B14F-4D97-AF65-F5344CB8AC3E}">
        <p14:creationId xmlns:p14="http://schemas.microsoft.com/office/powerpoint/2010/main" val="43808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78015-F19F-E9BA-D0E5-35D71DB1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63EB-FD13-6ED2-A6C1-0EADB229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9" name="Content Placeholder 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1883C93-445F-9319-1D0D-9BF2957DB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7789" y="1321826"/>
            <a:ext cx="7814211" cy="459348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9C88AC-E35F-FBC7-EE9C-71734559B3BD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35395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sensitivity to features in both tasks</a:t>
            </a:r>
          </a:p>
        </p:txBody>
      </p:sp>
    </p:spTree>
    <p:extLst>
      <p:ext uri="{BB962C8B-B14F-4D97-AF65-F5344CB8AC3E}">
        <p14:creationId xmlns:p14="http://schemas.microsoft.com/office/powerpoint/2010/main" val="3775620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D4B7-42B7-5969-9FCC-AEECB48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numerosity of an array influence judgments of its trend depending on direction?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640-2BAE-B69C-B1BB-B1D74C47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803" cy="4351338"/>
          </a:xfrm>
        </p:spPr>
        <p:txBody>
          <a:bodyPr/>
          <a:lstStyle/>
          <a:p>
            <a:r>
              <a:rPr lang="en-US" dirty="0"/>
              <a:t>More numerosity reduced reaction time for increasing trends but not for decreasing trends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(b = −0.034, SE = 0.011, z = −3.13, </a:t>
            </a:r>
            <a:r>
              <a:rPr lang="en-US" b="1" dirty="0"/>
              <a:t>p = .0017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75541444-4956-9A37-7588-4913C71D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89"/>
          <a:stretch>
            <a:fillRect/>
          </a:stretch>
        </p:blipFill>
        <p:spPr>
          <a:xfrm>
            <a:off x="5219003" y="1978025"/>
            <a:ext cx="5565852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DF2E941C-98CB-BE9E-511D-D4BE39C1B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1BA5B-9A1D-B868-CA19-085D621CCB16}"/>
              </a:ext>
            </a:extLst>
          </p:cNvPr>
          <p:cNvSpPr txBox="1"/>
          <p:nvPr/>
        </p:nvSpPr>
        <p:spPr>
          <a:xfrm>
            <a:off x="9148270" y="277665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DE6D0-0757-D8C4-2E6F-01CDE1D46363}"/>
              </a:ext>
            </a:extLst>
          </p:cNvPr>
          <p:cNvSpPr txBox="1"/>
          <p:nvPr/>
        </p:nvSpPr>
        <p:spPr>
          <a:xfrm>
            <a:off x="7097876" y="25919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328332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00A2-0347-DB11-BEBF-BBC550CB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trend influence judgements of numerosity?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B71D-21EE-FC53-CD82-8E2FE48F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7147" cy="4351338"/>
          </a:xfrm>
        </p:spPr>
        <p:txBody>
          <a:bodyPr/>
          <a:lstStyle/>
          <a:p>
            <a:r>
              <a:rPr lang="en-US" dirty="0"/>
              <a:t>Trend had no influence on judgements of numerosity</a:t>
            </a:r>
          </a:p>
          <a:p>
            <a:pPr marL="0" indent="0">
              <a:buNone/>
            </a:pPr>
            <a:r>
              <a:rPr lang="en-US" dirty="0"/>
              <a:t>(b = 0.002, SE = 0.001, z = 1.66, </a:t>
            </a:r>
            <a:r>
              <a:rPr lang="en-US" b="1" dirty="0"/>
              <a:t>p = .098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21A36C5-A4F0-DCF4-8C3F-A0238182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103"/>
          <a:stretch>
            <a:fillRect/>
          </a:stretch>
        </p:blipFill>
        <p:spPr>
          <a:xfrm>
            <a:off x="5219003" y="1978025"/>
            <a:ext cx="5588155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B7D8A361-C5FD-767B-4A8C-6982A6A4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4215B-ED90-2D21-03BD-1645281E323D}"/>
              </a:ext>
            </a:extLst>
          </p:cNvPr>
          <p:cNvSpPr txBox="1"/>
          <p:nvPr/>
        </p:nvSpPr>
        <p:spPr>
          <a:xfrm>
            <a:off x="7083812" y="2591987"/>
            <a:ext cx="611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DCF1-CF04-0C76-6C17-D177F1F0568F}"/>
              </a:ext>
            </a:extLst>
          </p:cNvPr>
          <p:cNvSpPr txBox="1"/>
          <p:nvPr/>
        </p:nvSpPr>
        <p:spPr>
          <a:xfrm>
            <a:off x="9148270" y="2591987"/>
            <a:ext cx="66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2161454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57AE-2606-2D89-CB40-F736D57F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A7F6-036A-9BD3-9D8D-AE55D9C0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might judging trend elicit associations with number?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F3A61-B10C-4B2E-2C2E-453E244AA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93322"/>
          </a:xfrm>
        </p:spPr>
        <p:txBody>
          <a:bodyPr>
            <a:normAutofit/>
          </a:bodyPr>
          <a:lstStyle/>
          <a:p>
            <a:r>
              <a:rPr lang="en-US" dirty="0"/>
              <a:t>Larger magnitudes are judged more accurately when they occur later in time</a:t>
            </a:r>
          </a:p>
          <a:p>
            <a:r>
              <a:rPr lang="en-US" dirty="0"/>
              <a:t>Temporal relations may serve as an analogy for graphs depicting spatial relations (where time becomes the x-axis) </a:t>
            </a:r>
          </a:p>
          <a:p>
            <a:r>
              <a:rPr lang="en-US" dirty="0"/>
              <a:t>Therefore, more numerous sets which contain more events might be perceived as further along this dimension and thus may be easier to represent as increasing</a:t>
            </a:r>
          </a:p>
          <a:p>
            <a:r>
              <a:rPr lang="en-US" dirty="0"/>
              <a:t>Further research is needed to elucidate the nature of this effect</a:t>
            </a:r>
          </a:p>
        </p:txBody>
      </p:sp>
    </p:spTree>
    <p:extLst>
      <p:ext uri="{BB962C8B-B14F-4D97-AF65-F5344CB8AC3E}">
        <p14:creationId xmlns:p14="http://schemas.microsoft.com/office/powerpoint/2010/main" val="262647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E513-DCEC-321A-9B1F-553ED13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B5BA-F572-E86B-1EE3-26A92E9F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Numerosity and the linear trend of an array have canonical associations</a:t>
            </a:r>
          </a:p>
          <a:p>
            <a:r>
              <a:rPr lang="en-US" dirty="0"/>
              <a:t>Very simple quasi-graphical stimuli elicit these abstract representations of numerical magnitude and relations thereof</a:t>
            </a:r>
          </a:p>
          <a:p>
            <a:r>
              <a:rPr lang="en-US" dirty="0"/>
              <a:t>Those studying graphical perception should consider that tasks which need not implicate mathematical thinking still might</a:t>
            </a:r>
          </a:p>
          <a:p>
            <a:r>
              <a:rPr lang="en-US" dirty="0"/>
              <a:t>Those studying the basic processing of ordinality and magnitude relations should look to graph perception for analogous biases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2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</TotalTime>
  <Words>798</Words>
  <Application>Microsoft Macintosh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Helvetica</vt:lpstr>
      <vt:lpstr>Office Theme</vt:lpstr>
      <vt:lpstr>Canonical Numerical Associations in Linear Trends </vt:lpstr>
      <vt:lpstr>Graphs as Representations</vt:lpstr>
      <vt:lpstr>Graphs as Representations</vt:lpstr>
      <vt:lpstr>Graphs as Representations</vt:lpstr>
      <vt:lpstr>PowerPoint Presentation</vt:lpstr>
      <vt:lpstr>PowerPoint Presentation</vt:lpstr>
      <vt:lpstr>Graphs</vt:lpstr>
      <vt:lpstr>Graphs</vt:lpstr>
      <vt:lpstr>Are there canonical associations between numerosity and linear trends in simple dot arrays?</vt:lpstr>
      <vt:lpstr>Are there canonical associations between numerosity and linear trends in simple dot arrays?</vt:lpstr>
      <vt:lpstr>Are there canonical associations between numerosity and linear trends in simple dot arrays?</vt:lpstr>
      <vt:lpstr>Are there canonical associations between numerosity and linear trends in simple dot arrays?</vt:lpstr>
      <vt:lpstr>Method</vt:lpstr>
      <vt:lpstr>Results</vt:lpstr>
      <vt:lpstr>Does numerosity of an array influence judgments of its trend depending on direction?</vt:lpstr>
      <vt:lpstr>Does trend influence judgements of numerosity?</vt:lpstr>
      <vt:lpstr>How might judging trend elicit associations with number?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Robert Tarantino</dc:creator>
  <cp:lastModifiedBy>Nick Robert Tarantino</cp:lastModifiedBy>
  <cp:revision>7</cp:revision>
  <dcterms:created xsi:type="dcterms:W3CDTF">2026-04-15T05:57:34Z</dcterms:created>
  <dcterms:modified xsi:type="dcterms:W3CDTF">2026-04-23T00:28:50Z</dcterms:modified>
</cp:coreProperties>
</file>