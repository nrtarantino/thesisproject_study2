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9" r:id="rId3"/>
    <p:sldId id="321" r:id="rId4"/>
    <p:sldId id="322" r:id="rId5"/>
    <p:sldId id="302" r:id="rId6"/>
    <p:sldId id="326" r:id="rId7"/>
    <p:sldId id="300" r:id="rId8"/>
    <p:sldId id="323" r:id="rId9"/>
    <p:sldId id="317" r:id="rId10"/>
    <p:sldId id="327" r:id="rId11"/>
    <p:sldId id="325" r:id="rId12"/>
    <p:sldId id="328" r:id="rId13"/>
    <p:sldId id="320" r:id="rId14"/>
    <p:sldId id="329" r:id="rId15"/>
    <p:sldId id="305" r:id="rId16"/>
    <p:sldId id="330" r:id="rId17"/>
    <p:sldId id="331" r:id="rId18"/>
    <p:sldId id="306" r:id="rId19"/>
    <p:sldId id="308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12D28B-2386-150B-16BC-881C4E90B4DD}" name="Nick Robert Tarantino" initials="NRT" userId="S::nrtarantino@wisc.edu::3fb99638-8d59-4d18-8a78-7187f3a5136c" providerId="AD"/>
  <p188:author id="{1FAA4CA2-A42D-B312-3FA3-F1F7191E6F2D}" name="Martha W. Alibali" initials="MWA" userId="S::mwalibali@wisc.edu::b3f8a969-757f-47a6-bc0e-3a9f05921e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98"/>
    <p:restoredTop sz="94771"/>
  </p:normalViewPr>
  <p:slideViewPr>
    <p:cSldViewPr snapToGrid="0">
      <p:cViewPr varScale="1">
        <p:scale>
          <a:sx n="112" d="100"/>
          <a:sy n="112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B6F1-FB72-8A96-9912-26855D391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8DC0D-3F7D-4102-7C0E-547C8F7F0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F47C1-200B-73F9-2C24-94E0615B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B51F8-A9E4-00D8-217D-033620A0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45A2-4475-42FC-43AB-80774A60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4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B4A6-F74F-8161-5AF6-7657F28C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F891-9936-FBFC-BC8B-7A9D2255D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4BF8B-879E-43B1-9DC3-D3266095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5B5B-41B5-710C-6DFC-C7C9D21F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77C1-4509-F962-3554-3FA3C72A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3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B8C2-94A3-116A-23BD-70D68AFA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E4FCE-35D6-CCA6-1639-87CE6EC75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7792-BB07-758D-4206-F4E19D81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49A1-6E6C-DE47-113B-EE262BAB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EC77-7850-E6F9-1B43-CA0B9EF7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8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F528-BABA-4FC5-29F2-C4508047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040A-6495-D5FE-7F5F-81523E8D7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EEB5B-B0BF-3CCB-41B9-B8D792E86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A7D0B-601A-42EE-A7DC-F8D999661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75D79-FD14-DBCF-ECD3-4F6AB88D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148E3-D232-C21E-5EBD-1AB7903B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E395-00B9-2ABF-9BC8-2B47ACF5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A2CF-6318-5947-C51E-6A8EC03F6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B93ED-2434-9138-171D-E1987CAD7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B9D97-0AFD-F42D-EEDE-ABF68555A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5F212-E9E7-00B5-1EA7-055C64162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095F6-3D9B-26B6-0B79-65AA0208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6E9DE-C27C-9BF5-1004-3D80ED8B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48C41-1BE7-2AD8-9403-B69E3FC2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8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99C1-95BA-4BDF-639D-3D79D4C1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6E455-519C-792E-2862-9C8D6DA9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5BCCA-01DE-5896-0197-4B1CC5FB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8410-3BFB-D7BC-A7D8-FBF61C98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ABBA3-3B42-F385-30F9-44BAE192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9C67A8-B346-F332-1FC2-A09AFE1C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0FE9-3F69-F66D-F73B-EC40D74A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F288-70E6-008C-54F0-0B76EF8C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AB755-F6E8-6F97-AB5C-2FC9E3CF0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9286-5106-5BA7-010C-7680E946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A33AD-16D8-18BA-A309-6FFDB3E1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D350-C29C-BEA7-5ED3-7CCD04F2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8533A-0D4F-CA16-C471-523B2044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36AD-3B2D-2AEE-A55E-10E9A509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40AD5C-21E7-1C03-027D-6CA036B3B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E9FDD-E7B7-7F39-B6C0-46C1988EF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C01A7-1726-2DA5-5806-48D84224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D4EE5-207E-DC56-9433-39A826F0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F1968-3209-56E6-F41C-3917C3B5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7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B6C3-907A-9D30-7A12-4B9977EB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69E83-1221-2205-AAAA-8DEF9AD77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346E-BA95-BAF1-8850-7EF9587E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29930-6595-C992-BBB3-5C7E4864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7768-FC06-EF1A-CF4D-BFE9C4E6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2A5A9-B52E-9786-6D7D-384570358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60378-454A-A11E-5849-A5ADEBDC4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8332-D651-BD2F-6DFD-EF746C61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937D-671C-A7F6-7678-DA31549C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D314A-D995-55EC-60E6-E15BCB9A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A00DF-3E5B-9009-AD04-581EE3B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4554-705C-3C90-8466-31615868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C794F-3810-B078-F863-3801DF86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65321-2719-A34E-AB27-1A2B67F981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E27B-EBAB-9E42-833F-C00D86766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9AFE-3F19-56F4-62FC-250DCB80D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2E842-4558-0844-AEE7-AE68EABFB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F4F9-9B72-B12E-4C11-33FDCE93B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Helvetica" pitchFamily="2" charset="0"/>
              </a:rPr>
              <a:t>Canonical Numerical Associations in Linear Trends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17263-E660-E429-85EF-BA6BFA994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Nick R. Tarantino and Martha W. Alibali</a:t>
            </a:r>
          </a:p>
        </p:txBody>
      </p:sp>
    </p:spTree>
    <p:extLst>
      <p:ext uri="{BB962C8B-B14F-4D97-AF65-F5344CB8AC3E}">
        <p14:creationId xmlns:p14="http://schemas.microsoft.com/office/powerpoint/2010/main" val="144674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D195-FD28-F13F-8301-03F6C9F1C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90C5-08CB-74BE-454F-22CC82DC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E67C4-7950-4708-18DB-B13CD46F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One of the earliest symbolic tools used to depict spatial, temporal, and numerical information </a:t>
            </a:r>
            <a:r>
              <a:rPr lang="en-US" sz="2000" dirty="0">
                <a:latin typeface="Helvetica" pitchFamily="2" charset="0"/>
              </a:rPr>
              <a:t>(Clarke, 2013)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A11937D-621D-0938-6BA5-1FAC93E33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4219575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86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900E-B891-9A60-B0C6-DE5A84A5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1296-8614-0882-92BC-EA843D72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DF0C2-03CF-FDCE-A3F3-10CA143F6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One of the earliest symbolic tools used to depict spatial, temporal, and numerical information </a:t>
            </a:r>
            <a:r>
              <a:rPr lang="en-US" sz="2000" dirty="0">
                <a:latin typeface="Helvetica" pitchFamily="2" charset="0"/>
              </a:rPr>
              <a:t>(Clarke, 2013)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Rely on perceptually basic non-symbolic magnitudes to depict this information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53352638-3137-17F6-41E2-5CD0D0EA0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4219575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7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3D0B-79CB-6E8D-FCC6-ADB28260D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661C-E37B-D52E-3869-11C65307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5A18-DA41-8403-F014-927DF3CA0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937" cy="5155038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One of the earliest symbolic tools used to depict spatial, temporal, and numerical information </a:t>
            </a:r>
            <a:r>
              <a:rPr lang="en-US" sz="2000" dirty="0">
                <a:latin typeface="Helvetica" pitchFamily="2" charset="0"/>
              </a:rPr>
              <a:t>(Clarke, 2013)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Rely on perceptually basic non-symbolic magnitudes to depict this information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So simple that people without mathematics education and non-human primates can judge trends in graphs </a:t>
            </a:r>
            <a:r>
              <a:rPr lang="en-US" sz="2000" dirty="0">
                <a:latin typeface="Helvetica" pitchFamily="2" charset="0"/>
              </a:rPr>
              <a:t>(</a:t>
            </a:r>
            <a:r>
              <a:rPr lang="en-US" sz="2000" dirty="0" err="1">
                <a:latin typeface="Helvetica" pitchFamily="2" charset="0"/>
              </a:rPr>
              <a:t>Ciccione</a:t>
            </a:r>
            <a:r>
              <a:rPr lang="en-US" sz="2000" dirty="0">
                <a:latin typeface="Helvetica" pitchFamily="2" charset="0"/>
              </a:rPr>
              <a:t> et al., 2023; </a:t>
            </a:r>
            <a:r>
              <a:rPr lang="en-US" sz="2000" dirty="0" err="1">
                <a:latin typeface="Helvetica" pitchFamily="2" charset="0"/>
              </a:rPr>
              <a:t>Ciccione</a:t>
            </a:r>
            <a:r>
              <a:rPr lang="en-US" sz="2000" dirty="0">
                <a:latin typeface="Helvetica" pitchFamily="2" charset="0"/>
              </a:rPr>
              <a:t> et al., 2025)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9DEA9A0-063F-3BF1-5D30-51BA77C7F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4219575"/>
            <a:ext cx="4000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2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48F6A91-E074-B1B4-7EDD-F44B61C7FBDF}"/>
              </a:ext>
            </a:extLst>
          </p:cNvPr>
          <p:cNvSpPr txBox="1"/>
          <p:nvPr/>
        </p:nvSpPr>
        <p:spPr>
          <a:xfrm>
            <a:off x="3588536" y="1290271"/>
            <a:ext cx="185339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itchFamily="2" charset="0"/>
              </a:rPr>
              <a:t>Data Set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70603F-7302-0CBD-3469-1DEB5BCB295B}"/>
              </a:ext>
            </a:extLst>
          </p:cNvPr>
          <p:cNvSpPr txBox="1"/>
          <p:nvPr/>
        </p:nvSpPr>
        <p:spPr>
          <a:xfrm>
            <a:off x="469962" y="1269604"/>
            <a:ext cx="184121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itchFamily="2" charset="0"/>
              </a:rPr>
              <a:t>Data Set A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B02D82A3-1EC8-CBE5-15C2-3429579FD6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5149999"/>
              </p:ext>
            </p:extLst>
          </p:nvPr>
        </p:nvGraphicFramePr>
        <p:xfrm>
          <a:off x="243047" y="1795541"/>
          <a:ext cx="2468622" cy="4463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311">
                  <a:extLst>
                    <a:ext uri="{9D8B030D-6E8A-4147-A177-3AD203B41FA5}">
                      <a16:colId xmlns:a16="http://schemas.microsoft.com/office/drawing/2014/main" val="3978532230"/>
                    </a:ext>
                  </a:extLst>
                </a:gridCol>
                <a:gridCol w="1234311">
                  <a:extLst>
                    <a:ext uri="{9D8B030D-6E8A-4147-A177-3AD203B41FA5}">
                      <a16:colId xmlns:a16="http://schemas.microsoft.com/office/drawing/2014/main" val="278652173"/>
                    </a:ext>
                  </a:extLst>
                </a:gridCol>
              </a:tblGrid>
              <a:tr h="385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89746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7.23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3916618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4.32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761805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5.98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855747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9.42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096642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6.29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583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10.11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09853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5.34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76815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12.98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63996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7.09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405861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10.65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0258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79FBCE-AC1B-D5C6-08AB-DF117636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27783"/>
              </p:ext>
            </p:extLst>
          </p:nvPr>
        </p:nvGraphicFramePr>
        <p:xfrm>
          <a:off x="3242527" y="1795541"/>
          <a:ext cx="2468622" cy="4463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311">
                  <a:extLst>
                    <a:ext uri="{9D8B030D-6E8A-4147-A177-3AD203B41FA5}">
                      <a16:colId xmlns:a16="http://schemas.microsoft.com/office/drawing/2014/main" val="3738398907"/>
                    </a:ext>
                  </a:extLst>
                </a:gridCol>
                <a:gridCol w="1234311">
                  <a:extLst>
                    <a:ext uri="{9D8B030D-6E8A-4147-A177-3AD203B41FA5}">
                      <a16:colId xmlns:a16="http://schemas.microsoft.com/office/drawing/2014/main" val="3302537619"/>
                    </a:ext>
                  </a:extLst>
                </a:gridCol>
              </a:tblGrid>
              <a:tr h="385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79957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6.89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955531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13.8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85609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8.45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27258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9.82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6670502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5.71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27858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9.32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72386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7.33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11723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10.5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809133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3.12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713235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5.11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1632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FC04F32-A48D-8947-1867-7C1C0AA3ACA9}"/>
              </a:ext>
            </a:extLst>
          </p:cNvPr>
          <p:cNvSpPr txBox="1"/>
          <p:nvPr/>
        </p:nvSpPr>
        <p:spPr>
          <a:xfrm>
            <a:off x="243047" y="387139"/>
            <a:ext cx="68563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" pitchFamily="2" charset="0"/>
              </a:rPr>
              <a:t>Which data set has a positive trend?</a:t>
            </a:r>
          </a:p>
        </p:txBody>
      </p:sp>
    </p:spTree>
    <p:extLst>
      <p:ext uri="{BB962C8B-B14F-4D97-AF65-F5344CB8AC3E}">
        <p14:creationId xmlns:p14="http://schemas.microsoft.com/office/powerpoint/2010/main" val="241884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218A-72DC-3A31-0E39-9D1F2191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DDADA55-8352-3FE8-9926-FFE34E66A8F6}"/>
              </a:ext>
            </a:extLst>
          </p:cNvPr>
          <p:cNvSpPr txBox="1"/>
          <p:nvPr/>
        </p:nvSpPr>
        <p:spPr>
          <a:xfrm>
            <a:off x="3588536" y="1290271"/>
            <a:ext cx="185339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itchFamily="2" charset="0"/>
              </a:rPr>
              <a:t>Data Set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2FF70-9DC2-7F81-8B0F-2A6AC5394EEA}"/>
              </a:ext>
            </a:extLst>
          </p:cNvPr>
          <p:cNvSpPr txBox="1"/>
          <p:nvPr/>
        </p:nvSpPr>
        <p:spPr>
          <a:xfrm>
            <a:off x="469962" y="1269604"/>
            <a:ext cx="184121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itchFamily="2" charset="0"/>
              </a:rPr>
              <a:t>Data Set A</a:t>
            </a:r>
          </a:p>
        </p:txBody>
      </p:sp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66A349AD-AC94-6293-B7ED-4B9F9A3ACAAD}"/>
              </a:ext>
            </a:extLst>
          </p:cNvPr>
          <p:cNvGraphicFramePr>
            <a:graphicFrameLocks/>
          </p:cNvGraphicFramePr>
          <p:nvPr/>
        </p:nvGraphicFramePr>
        <p:xfrm>
          <a:off x="243047" y="1795541"/>
          <a:ext cx="2468622" cy="4463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311">
                  <a:extLst>
                    <a:ext uri="{9D8B030D-6E8A-4147-A177-3AD203B41FA5}">
                      <a16:colId xmlns:a16="http://schemas.microsoft.com/office/drawing/2014/main" val="3978532230"/>
                    </a:ext>
                  </a:extLst>
                </a:gridCol>
                <a:gridCol w="1234311">
                  <a:extLst>
                    <a:ext uri="{9D8B030D-6E8A-4147-A177-3AD203B41FA5}">
                      <a16:colId xmlns:a16="http://schemas.microsoft.com/office/drawing/2014/main" val="278652173"/>
                    </a:ext>
                  </a:extLst>
                </a:gridCol>
              </a:tblGrid>
              <a:tr h="385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89746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7.23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3916618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4.32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761805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5.98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855747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9.42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096642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6.29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4583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10.11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09853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5.34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76815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12.98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63996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7.09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9405861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10.65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80258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9A5D58-3673-FBD8-5C57-16960549C557}"/>
              </a:ext>
            </a:extLst>
          </p:cNvPr>
          <p:cNvGraphicFramePr>
            <a:graphicFrameLocks noGrp="1"/>
          </p:cNvGraphicFramePr>
          <p:nvPr/>
        </p:nvGraphicFramePr>
        <p:xfrm>
          <a:off x="3242527" y="1795541"/>
          <a:ext cx="2468622" cy="4463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311">
                  <a:extLst>
                    <a:ext uri="{9D8B030D-6E8A-4147-A177-3AD203B41FA5}">
                      <a16:colId xmlns:a16="http://schemas.microsoft.com/office/drawing/2014/main" val="3738398907"/>
                    </a:ext>
                  </a:extLst>
                </a:gridCol>
                <a:gridCol w="1234311">
                  <a:extLst>
                    <a:ext uri="{9D8B030D-6E8A-4147-A177-3AD203B41FA5}">
                      <a16:colId xmlns:a16="http://schemas.microsoft.com/office/drawing/2014/main" val="3302537619"/>
                    </a:ext>
                  </a:extLst>
                </a:gridCol>
              </a:tblGrid>
              <a:tr h="385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x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y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79957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6.89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955531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13.8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85609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3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8.45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027258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4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9.82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6670502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5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5.71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27858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6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9.32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72386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7.33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117230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8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10.5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21809133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9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3.12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7132354"/>
                  </a:ext>
                </a:extLst>
              </a:tr>
              <a:tr h="38569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>
                          <a:effectLst/>
                          <a:latin typeface="Helvetica" pitchFamily="2" charset="0"/>
                        </a:rPr>
                        <a:t>10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600" u="none" strike="noStrike" dirty="0">
                          <a:effectLst/>
                          <a:latin typeface="Helvetica" pitchFamily="2" charset="0"/>
                        </a:rPr>
                        <a:t>5.11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163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7CD8DB9-00CF-A33C-0BD1-DC7BFB6A6982}"/>
              </a:ext>
            </a:extLst>
          </p:cNvPr>
          <p:cNvSpPr txBox="1"/>
          <p:nvPr/>
        </p:nvSpPr>
        <p:spPr>
          <a:xfrm>
            <a:off x="243047" y="387139"/>
            <a:ext cx="68563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" pitchFamily="2" charset="0"/>
              </a:rPr>
              <a:t>Which data set has a positive trend?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DBB0F-3FF2-1B9B-5C2C-A8DF4BCB8D24}"/>
              </a:ext>
            </a:extLst>
          </p:cNvPr>
          <p:cNvSpPr txBox="1"/>
          <p:nvPr/>
        </p:nvSpPr>
        <p:spPr>
          <a:xfrm>
            <a:off x="8236461" y="353048"/>
            <a:ext cx="184121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itchFamily="2" charset="0"/>
              </a:rPr>
              <a:t>Data Set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259FB-9FC1-9528-B07F-5EA3E7594C7B}"/>
              </a:ext>
            </a:extLst>
          </p:cNvPr>
          <p:cNvSpPr txBox="1"/>
          <p:nvPr/>
        </p:nvSpPr>
        <p:spPr>
          <a:xfrm>
            <a:off x="8224279" y="3781026"/>
            <a:ext cx="185339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" pitchFamily="2" charset="0"/>
              </a:rPr>
              <a:t>Data Set B</a:t>
            </a:r>
          </a:p>
        </p:txBody>
      </p:sp>
      <p:pic>
        <p:nvPicPr>
          <p:cNvPr id="6" name="Picture 5" descr="A diagram of blue dots&#10;&#10;AI-generated content may be incorrect.">
            <a:extLst>
              <a:ext uri="{FF2B5EF4-FFF2-40B4-BE49-F238E27FC236}">
                <a16:creationId xmlns:a16="http://schemas.microsoft.com/office/drawing/2014/main" id="{EBC336AE-ADD8-72EE-7AC7-0A6928AE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637" y="1096914"/>
            <a:ext cx="3298489" cy="2182582"/>
          </a:xfrm>
          <a:prstGeom prst="rect">
            <a:avLst/>
          </a:prstGeom>
        </p:spPr>
      </p:pic>
      <p:pic>
        <p:nvPicPr>
          <p:cNvPr id="7" name="Picture 6" descr="A white background with blue dots&#10;&#10;AI-generated content may be incorrect.">
            <a:extLst>
              <a:ext uri="{FF2B5EF4-FFF2-40B4-BE49-F238E27FC236}">
                <a16:creationId xmlns:a16="http://schemas.microsoft.com/office/drawing/2014/main" id="{85A93CCA-BCD2-9CA4-9E02-9E4FB6B5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1"/>
          <a:stretch>
            <a:fillRect/>
          </a:stretch>
        </p:blipFill>
        <p:spPr>
          <a:xfrm>
            <a:off x="7280910" y="4208028"/>
            <a:ext cx="3249930" cy="218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0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F69D-95BF-B742-6A4A-7BFC32FF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1E2D-98E4-8A2E-D45A-403D7B53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4B2E-B383-C4D5-B096-30F5A38AE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029" cy="4351338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Despite their simplicity, graphs facilitate highly complex mathematical thinking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6" name="Picture 5" descr="A graph of a line with a line and a line with a line&#10;&#10;AI-generated content may be incorrect.">
            <a:extLst>
              <a:ext uri="{FF2B5EF4-FFF2-40B4-BE49-F238E27FC236}">
                <a16:creationId xmlns:a16="http://schemas.microsoft.com/office/drawing/2014/main" id="{392E7CB8-1EE0-1E2F-3530-9E72A650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66" y="2103789"/>
            <a:ext cx="3131634" cy="32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0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32BC-CE76-255A-07AE-75399B4E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1ACB-EE07-2F1E-D96B-39CA1E02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Graphs as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FC07-F0E7-3E08-B959-4F12C356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9029" cy="4351338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Despite their simplicity, graphs facilitate highly complex mathematical thinking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Does this basic perception of graphs still activate quantitative representations?</a:t>
            </a:r>
          </a:p>
          <a:p>
            <a:pPr lvl="1"/>
            <a:r>
              <a:rPr lang="en-US" dirty="0">
                <a:latin typeface="Helvetica" pitchFamily="2" charset="0"/>
              </a:rPr>
              <a:t>Such as number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 descr="A diagram of blue dots&#10;&#10;AI-generated content may be incorrect.">
            <a:extLst>
              <a:ext uri="{FF2B5EF4-FFF2-40B4-BE49-F238E27FC236}">
                <a16:creationId xmlns:a16="http://schemas.microsoft.com/office/drawing/2014/main" id="{EAAEA495-8DAA-CC8E-F096-D208BD843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777" y="2910003"/>
            <a:ext cx="3298489" cy="218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4216-28F0-F1AB-8CA2-63CB5E40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7135-806C-4C87-AE5A-882879AC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Spatial Numerical Associations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0BA0-33E8-E7EF-E0A6-502BE68F3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People associate non-numerical magnitudes, like physical size, with numerical magnitudes</a:t>
            </a:r>
          </a:p>
          <a:p>
            <a:r>
              <a:rPr lang="en-US" dirty="0">
                <a:latin typeface="Helvetica" pitchFamily="2" charset="0"/>
              </a:rPr>
              <a:t>When these features are incongruent, judgments about those features are slowed and less accurate </a:t>
            </a: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dirty="0">
                <a:latin typeface="Helvetica" pitchFamily="2" charset="0"/>
              </a:rPr>
              <a:t>          </a:t>
            </a:r>
          </a:p>
          <a:p>
            <a:pPr marL="0" indent="0">
              <a:buNone/>
            </a:pPr>
            <a:r>
              <a:rPr lang="en-US" dirty="0">
                <a:latin typeface="Helvetica" pitchFamily="2" charset="0"/>
              </a:rPr>
              <a:t>		3 		</a:t>
            </a:r>
            <a:r>
              <a:rPr lang="en-US" sz="5000" dirty="0">
                <a:latin typeface="Helvetica" pitchFamily="2" charset="0"/>
              </a:rPr>
              <a:t>7			</a:t>
            </a:r>
            <a:r>
              <a:rPr lang="en-US" sz="5400" dirty="0">
                <a:latin typeface="Helvetica" pitchFamily="2" charset="0"/>
              </a:rPr>
              <a:t> 3		</a:t>
            </a:r>
            <a:r>
              <a:rPr lang="en-US" dirty="0">
                <a:latin typeface="Helvetica" pitchFamily="2" charset="0"/>
              </a:rPr>
              <a:t>7</a:t>
            </a:r>
          </a:p>
          <a:p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C93DC-A4F9-7185-7DC4-434BC790C773}"/>
              </a:ext>
            </a:extLst>
          </p:cNvPr>
          <p:cNvSpPr txBox="1"/>
          <p:nvPr/>
        </p:nvSpPr>
        <p:spPr>
          <a:xfrm>
            <a:off x="2611056" y="4568603"/>
            <a:ext cx="2097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" pitchFamily="2" charset="0"/>
              </a:rPr>
              <a:t>Congruent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30D24-51F2-670C-AC59-BEB7B760C370}"/>
              </a:ext>
            </a:extLst>
          </p:cNvPr>
          <p:cNvSpPr txBox="1"/>
          <p:nvPr/>
        </p:nvSpPr>
        <p:spPr>
          <a:xfrm>
            <a:off x="7519163" y="4549440"/>
            <a:ext cx="2326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" pitchFamily="2" charset="0"/>
              </a:rPr>
              <a:t>Incongruent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41703-C368-052F-883C-13801D511327}"/>
              </a:ext>
            </a:extLst>
          </p:cNvPr>
          <p:cNvSpPr txBox="1"/>
          <p:nvPr/>
        </p:nvSpPr>
        <p:spPr>
          <a:xfrm>
            <a:off x="472966" y="6169709"/>
            <a:ext cx="6393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Congruent = The font size and the numerical size match </a:t>
            </a:r>
          </a:p>
          <a:p>
            <a:r>
              <a:rPr lang="en-US" dirty="0">
                <a:latin typeface="Helvetica" pitchFamily="2" charset="0"/>
              </a:rPr>
              <a:t>Incongruent = The font size and numerical size are reversed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9A95D-3CA5-D7DD-4C46-D353EF45557D}"/>
              </a:ext>
            </a:extLst>
          </p:cNvPr>
          <p:cNvSpPr txBox="1"/>
          <p:nvPr/>
        </p:nvSpPr>
        <p:spPr>
          <a:xfrm>
            <a:off x="9553329" y="6329005"/>
            <a:ext cx="2638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(Henik &amp; </a:t>
            </a:r>
            <a:r>
              <a:rPr lang="en-US" dirty="0" err="1">
                <a:latin typeface="Helvetica" pitchFamily="2" charset="0"/>
              </a:rPr>
              <a:t>Tzelgov</a:t>
            </a:r>
            <a:r>
              <a:rPr lang="en-US" dirty="0">
                <a:latin typeface="Helvetica" pitchFamily="2" charset="0"/>
              </a:rPr>
              <a:t>, 1982)</a:t>
            </a:r>
          </a:p>
        </p:txBody>
      </p:sp>
    </p:spTree>
    <p:extLst>
      <p:ext uri="{BB962C8B-B14F-4D97-AF65-F5344CB8AC3E}">
        <p14:creationId xmlns:p14="http://schemas.microsoft.com/office/powerpoint/2010/main" val="677741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12C37-3660-D7D2-FAEE-E14A1B2A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EC03-96DC-F7CE-28D7-AAFA0A01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the basic perception of trend still activate quantitative representations?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F2537-C249-D414-F4AF-0B5B5E553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Numerous arrays may be associated with increasing trends, and sparse arrays with decreasing trends 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38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0A29-68D9-9A50-9100-691CDA3F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FF5C-0AA8-CDFE-9BEB-2D5A53A6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the basic perception of trend still activate quantitative representations?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C9125-0661-D759-FBA9-4EB1003D7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Numerous arrays may be associated with increasing trends, and sparse arrays with decreasing trends </a:t>
            </a:r>
          </a:p>
          <a:p>
            <a:r>
              <a:rPr lang="en-US" dirty="0">
                <a:latin typeface="Helvetica" pitchFamily="2" charset="0"/>
              </a:rPr>
              <a:t>People assess the number of data points when judging trends in graphs </a:t>
            </a:r>
            <a:r>
              <a:rPr lang="en-US" sz="2000" dirty="0">
                <a:latin typeface="Helvetica" pitchFamily="2" charset="0"/>
              </a:rPr>
              <a:t>(</a:t>
            </a:r>
            <a:r>
              <a:rPr lang="en-US" sz="2000" dirty="0" err="1">
                <a:latin typeface="Helvetica" pitchFamily="2" charset="0"/>
              </a:rPr>
              <a:t>Ciccione</a:t>
            </a:r>
            <a:r>
              <a:rPr lang="en-US" sz="2000" dirty="0">
                <a:latin typeface="Helvetica" pitchFamily="2" charset="0"/>
              </a:rPr>
              <a:t> et al., 2023)</a:t>
            </a:r>
          </a:p>
          <a:p>
            <a:pPr lvl="1"/>
            <a:r>
              <a:rPr lang="en-US" dirty="0">
                <a:latin typeface="Helvetica" pitchFamily="2" charset="0"/>
              </a:rPr>
              <a:t>The reverse is not true: the trend of an array is irrelevant to judging its numerosity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9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7F696-1CC8-D8D4-B18A-50D93044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259B-97EB-C17A-DE38-BA3CA912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the basic perception of trend still activate quantitative representations?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CC6AD-A5F5-2CF0-5321-F843787AA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Numerous arrays may be associated with increasing trends, and sparse arrays with decreasing trends </a:t>
            </a:r>
          </a:p>
          <a:p>
            <a:r>
              <a:rPr lang="en-US" dirty="0">
                <a:latin typeface="Helvetica" pitchFamily="2" charset="0"/>
              </a:rPr>
              <a:t>People assess the number of data points when judging trends in graphs </a:t>
            </a:r>
            <a:r>
              <a:rPr lang="en-US" sz="2000" dirty="0">
                <a:latin typeface="Helvetica" pitchFamily="2" charset="0"/>
              </a:rPr>
              <a:t>(</a:t>
            </a:r>
            <a:r>
              <a:rPr lang="en-US" sz="2000" dirty="0" err="1">
                <a:latin typeface="Helvetica" pitchFamily="2" charset="0"/>
              </a:rPr>
              <a:t>Ciccione</a:t>
            </a:r>
            <a:r>
              <a:rPr lang="en-US" sz="2000" dirty="0">
                <a:latin typeface="Helvetica" pitchFamily="2" charset="0"/>
              </a:rPr>
              <a:t> et al., 2023)</a:t>
            </a:r>
          </a:p>
          <a:p>
            <a:pPr lvl="1"/>
            <a:r>
              <a:rPr lang="en-US" dirty="0">
                <a:latin typeface="Helvetica" pitchFamily="2" charset="0"/>
              </a:rPr>
              <a:t>The reverse is not true: the trend of an array is irrelevant to judging its numerosity</a:t>
            </a:r>
          </a:p>
          <a:p>
            <a:r>
              <a:rPr lang="en-US" dirty="0">
                <a:latin typeface="Helvetica" pitchFamily="2" charset="0"/>
              </a:rPr>
              <a:t>Does performance differ as a function of this putative congruency?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93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2885-029D-1100-D4E9-C0632090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702E-BCA3-B0E8-11B0-8E9957C69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3A97-6933-D602-C1ED-EB09C621E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the numerosity of an array influence judgments of its trend, depending on trend direction?</a:t>
            </a:r>
          </a:p>
          <a:p>
            <a:pPr lvl="1"/>
            <a:r>
              <a:rPr lang="en-US" dirty="0">
                <a:latin typeface="Helvetica" pitchFamily="2" charset="0"/>
              </a:rPr>
              <a:t>Increasing trends will be perceived faster in numerous arrays than in sparse arrays</a:t>
            </a:r>
          </a:p>
          <a:p>
            <a:pPr lvl="1"/>
            <a:r>
              <a:rPr lang="en-US" dirty="0">
                <a:latin typeface="Helvetica" pitchFamily="2" charset="0"/>
              </a:rPr>
              <a:t>Decreasing trends will be perceived faster in sparse arrays than in numerous arrays</a:t>
            </a:r>
          </a:p>
          <a:p>
            <a:pPr lvl="1"/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11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10C9-D7EA-477B-48E5-EE4D3B01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2D0E-4598-3F20-F8E7-13C32402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3879-FF5D-71B0-23DB-4EAB6324F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the numerosity of an array influence judgments of its trend, depending on trend direction?</a:t>
            </a:r>
          </a:p>
          <a:p>
            <a:pPr lvl="1"/>
            <a:r>
              <a:rPr lang="en-US" dirty="0">
                <a:latin typeface="Helvetica" pitchFamily="2" charset="0"/>
              </a:rPr>
              <a:t>Increasing trends will be perceived faster in numerous arrays than in sparse arrays</a:t>
            </a:r>
          </a:p>
          <a:p>
            <a:pPr lvl="1"/>
            <a:r>
              <a:rPr lang="en-US" dirty="0">
                <a:latin typeface="Helvetica" pitchFamily="2" charset="0"/>
              </a:rPr>
              <a:t>Decreasing trends will be perceived faster in sparse arrays than in numerous arrays</a:t>
            </a:r>
          </a:p>
          <a:p>
            <a:pPr lvl="1"/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Does the trend of an array influence judgments of its numerosity?</a:t>
            </a:r>
          </a:p>
          <a:p>
            <a:pPr lvl="1"/>
            <a:r>
              <a:rPr lang="en-US" dirty="0">
                <a:latin typeface="Helvetica" pitchFamily="2" charset="0"/>
              </a:rPr>
              <a:t>Trend should have no effect on judgments of numerosity</a:t>
            </a:r>
          </a:p>
        </p:txBody>
      </p:sp>
    </p:spTree>
    <p:extLst>
      <p:ext uri="{BB962C8B-B14F-4D97-AF65-F5344CB8AC3E}">
        <p14:creationId xmlns:p14="http://schemas.microsoft.com/office/powerpoint/2010/main" val="292401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9240-6667-AE1A-65F3-BEC992AD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FA30-8A99-3F11-E75F-3AF500B5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82996-BB83-5070-224A-C1CD5ECF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203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Helvetica" pitchFamily="2" charset="0"/>
              </a:rPr>
              <a:t>82 undergraduates compared dot arrays online 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Participants either completed a trend judgment or a numerosity judgment task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Arrays had few (8-14) or many (16-22) points with increasing or decreasing trends</a:t>
            </a:r>
          </a:p>
          <a:p>
            <a:endParaRPr lang="en-US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Task: Compare bottom array to top neutral array with 0 trend and 15 points</a:t>
            </a: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4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FCF5641A-3559-3C32-B5EA-BC0F20C6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422" y="1825625"/>
            <a:ext cx="4220470" cy="377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84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665A-6479-5F71-B743-59229CBB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ED84-A617-E339-C454-8AEA1642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Trend Task</a:t>
            </a:r>
          </a:p>
        </p:txBody>
      </p:sp>
      <p:pic>
        <p:nvPicPr>
          <p:cNvPr id="4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8D1BDC10-CA6C-688E-CA07-11BEE8F5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642" y="271796"/>
            <a:ext cx="5911875" cy="5293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1E5E8E-14EA-B4F9-74DA-2EFA9BF2A134}"/>
              </a:ext>
            </a:extLst>
          </p:cNvPr>
          <p:cNvSpPr txBox="1"/>
          <p:nvPr/>
        </p:nvSpPr>
        <p:spPr>
          <a:xfrm>
            <a:off x="5029392" y="5565338"/>
            <a:ext cx="671591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" pitchFamily="2" charset="0"/>
              </a:rPr>
              <a:t>If the bottom dot array's trend is increasing compared to the array on top, press Q; if it is decreasing, press P.</a:t>
            </a:r>
          </a:p>
        </p:txBody>
      </p:sp>
    </p:spTree>
    <p:extLst>
      <p:ext uri="{BB962C8B-B14F-4D97-AF65-F5344CB8AC3E}">
        <p14:creationId xmlns:p14="http://schemas.microsoft.com/office/powerpoint/2010/main" val="3921374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0678-2EB7-E04A-7E09-BDB92E56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4C37-FCB4-5AA6-621F-A159457A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Numerosity Task</a:t>
            </a:r>
          </a:p>
        </p:txBody>
      </p:sp>
      <p:pic>
        <p:nvPicPr>
          <p:cNvPr id="4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0A56F9D3-A7DF-0D42-5DBB-ADC9CF3E2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642" y="271796"/>
            <a:ext cx="5911875" cy="5293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B3A9A-B05B-5D96-484F-525220154FC6}"/>
              </a:ext>
            </a:extLst>
          </p:cNvPr>
          <p:cNvSpPr txBox="1"/>
          <p:nvPr/>
        </p:nvSpPr>
        <p:spPr>
          <a:xfrm>
            <a:off x="5029392" y="5565338"/>
            <a:ext cx="671591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" pitchFamily="2" charset="0"/>
              </a:rPr>
              <a:t>If the bottom dot array has more dots than the array on top press P; if it has fewer press Q.</a:t>
            </a:r>
          </a:p>
        </p:txBody>
      </p:sp>
    </p:spTree>
    <p:extLst>
      <p:ext uri="{BB962C8B-B14F-4D97-AF65-F5344CB8AC3E}">
        <p14:creationId xmlns:p14="http://schemas.microsoft.com/office/powerpoint/2010/main" val="82120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D4B7-42B7-5969-9FCC-AEECB48D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the numerosity of an array influence judgments of its trend?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6640-2BAE-B69C-B1BB-B1D74C47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0803" cy="4351338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Participants were faster at judging increasing arrays that were numerous compared to sparse ones</a:t>
            </a:r>
          </a:p>
          <a:p>
            <a:r>
              <a:rPr lang="en-US" dirty="0">
                <a:latin typeface="Helvetica" pitchFamily="2" charset="0"/>
              </a:rPr>
              <a:t>This effect differed for decreasing arrays</a:t>
            </a:r>
          </a:p>
          <a:p>
            <a:pPr marL="0" indent="0">
              <a:buNone/>
            </a:pPr>
            <a:r>
              <a:rPr lang="en-US" dirty="0">
                <a:latin typeface="Helvetica" pitchFamily="2" charset="0"/>
              </a:rPr>
              <a:t>(b = −0.034, SE = 0.011, z = −3.13, </a:t>
            </a:r>
            <a:r>
              <a:rPr lang="en-US" b="1" dirty="0">
                <a:latin typeface="Helvetica" pitchFamily="2" charset="0"/>
              </a:rPr>
              <a:t>p = .0017</a:t>
            </a:r>
            <a:r>
              <a:rPr lang="en-US" dirty="0">
                <a:latin typeface="Helvetica" pitchFamily="2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75541444-4956-9A37-7588-4913C71D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89"/>
          <a:stretch>
            <a:fillRect/>
          </a:stretch>
        </p:blipFill>
        <p:spPr>
          <a:xfrm>
            <a:off x="5219003" y="1978025"/>
            <a:ext cx="5565852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DF2E941C-98CB-BE9E-511D-D4BE39C1B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1BA5B-9A1D-B868-CA19-085D621CCB16}"/>
              </a:ext>
            </a:extLst>
          </p:cNvPr>
          <p:cNvSpPr txBox="1"/>
          <p:nvPr/>
        </p:nvSpPr>
        <p:spPr>
          <a:xfrm>
            <a:off x="9148270" y="277665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DE6D0-0757-D8C4-2E6F-01CDE1D46363}"/>
              </a:ext>
            </a:extLst>
          </p:cNvPr>
          <p:cNvSpPr txBox="1"/>
          <p:nvPr/>
        </p:nvSpPr>
        <p:spPr>
          <a:xfrm>
            <a:off x="7097876" y="259198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717C7-0DC2-7C70-B38F-CD08F797E950}"/>
              </a:ext>
            </a:extLst>
          </p:cNvPr>
          <p:cNvSpPr txBox="1"/>
          <p:nvPr/>
        </p:nvSpPr>
        <p:spPr>
          <a:xfrm rot="16200000">
            <a:off x="6270246" y="4378955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Congruent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84362-0F39-95FD-AD1F-63D8ADA07E77}"/>
              </a:ext>
            </a:extLst>
          </p:cNvPr>
          <p:cNvSpPr txBox="1"/>
          <p:nvPr/>
        </p:nvSpPr>
        <p:spPr>
          <a:xfrm rot="16200000">
            <a:off x="9086234" y="4378955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Congruent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41496-385B-1962-B0CE-C72791475C5D}"/>
              </a:ext>
            </a:extLst>
          </p:cNvPr>
          <p:cNvSpPr txBox="1"/>
          <p:nvPr/>
        </p:nvSpPr>
        <p:spPr>
          <a:xfrm rot="16200000">
            <a:off x="7017277" y="442944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Incongruent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0F303-829D-3925-C4F4-8B54AB62C794}"/>
              </a:ext>
            </a:extLst>
          </p:cNvPr>
          <p:cNvSpPr txBox="1"/>
          <p:nvPr/>
        </p:nvSpPr>
        <p:spPr>
          <a:xfrm rot="16200000">
            <a:off x="8245287" y="442944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Incongruent</a:t>
            </a:r>
          </a:p>
        </p:txBody>
      </p:sp>
    </p:spTree>
    <p:extLst>
      <p:ext uri="{BB962C8B-B14F-4D97-AF65-F5344CB8AC3E}">
        <p14:creationId xmlns:p14="http://schemas.microsoft.com/office/powerpoint/2010/main" val="3283320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00A2-0347-DB11-BEBF-BBC550CB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Does trend influence judgments of numerosity?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B71D-21EE-FC53-CD82-8E2FE48F6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7147" cy="4351338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Trend had no influence on judgments of numerosity</a:t>
            </a:r>
          </a:p>
          <a:p>
            <a:pPr marL="0" indent="0">
              <a:buNone/>
            </a:pPr>
            <a:r>
              <a:rPr lang="en-US" dirty="0">
                <a:latin typeface="Helvetica" pitchFamily="2" charset="0"/>
              </a:rPr>
              <a:t>(b = 0.002, SE = 0.001, z = 1.66, </a:t>
            </a:r>
            <a:r>
              <a:rPr lang="en-US" b="1" dirty="0">
                <a:latin typeface="Helvetica" pitchFamily="2" charset="0"/>
              </a:rPr>
              <a:t>p = .098</a:t>
            </a:r>
            <a:r>
              <a:rPr lang="en-US" dirty="0">
                <a:latin typeface="Helvetica" pitchFamily="2" charset="0"/>
              </a:rPr>
              <a:t>)</a:t>
            </a:r>
          </a:p>
          <a:p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21A36C5-A4F0-DCF4-8C3F-A0238182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103"/>
          <a:stretch>
            <a:fillRect/>
          </a:stretch>
        </p:blipFill>
        <p:spPr>
          <a:xfrm>
            <a:off x="5219003" y="1978025"/>
            <a:ext cx="5588155" cy="4663440"/>
          </a:xfrm>
          <a:prstGeom prst="rect">
            <a:avLst/>
          </a:prstGeom>
        </p:spPr>
      </p:pic>
      <p:pic>
        <p:nvPicPr>
          <p:cNvPr id="5" name="Content Placeholder 4" descr="A graph of 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B7D8A361-C5FD-767B-4A8C-6982A6A48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56" b="32134"/>
          <a:stretch>
            <a:fillRect/>
          </a:stretch>
        </p:blipFill>
        <p:spPr>
          <a:xfrm>
            <a:off x="10247290" y="2444128"/>
            <a:ext cx="1980022" cy="295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4215B-ED90-2D21-03BD-1645281E323D}"/>
              </a:ext>
            </a:extLst>
          </p:cNvPr>
          <p:cNvSpPr txBox="1"/>
          <p:nvPr/>
        </p:nvSpPr>
        <p:spPr>
          <a:xfrm>
            <a:off x="7083812" y="2591987"/>
            <a:ext cx="611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DCF1-CF04-0C76-6C17-D177F1F0568F}"/>
              </a:ext>
            </a:extLst>
          </p:cNvPr>
          <p:cNvSpPr txBox="1"/>
          <p:nvPr/>
        </p:nvSpPr>
        <p:spPr>
          <a:xfrm>
            <a:off x="9148270" y="2591987"/>
            <a:ext cx="660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2161454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E513-DCEC-321A-9B1F-553ED131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B5BA-F572-E86B-1EE3-26A92E9F8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Helvetica" pitchFamily="2" charset="0"/>
              </a:rPr>
              <a:t>The numerosity and linear trend of an array have canonical associations</a:t>
            </a:r>
          </a:p>
          <a:p>
            <a:r>
              <a:rPr lang="en-US" dirty="0">
                <a:latin typeface="Helvetica" pitchFamily="2" charset="0"/>
              </a:rPr>
              <a:t>Very simple quasi-graphical stimuli elicit these abstract representations of numerical magnitude</a:t>
            </a:r>
          </a:p>
          <a:p>
            <a:r>
              <a:rPr lang="en-US" dirty="0">
                <a:latin typeface="Helvetica" pitchFamily="2" charset="0"/>
              </a:rPr>
              <a:t>Tasks that do not need to implicate mathematical thinking still might</a:t>
            </a:r>
          </a:p>
          <a:p>
            <a:r>
              <a:rPr lang="en-US" dirty="0">
                <a:latin typeface="Helvetica" pitchFamily="2" charset="0"/>
              </a:rPr>
              <a:t>Biases in graph perception might be explained by biases observed in the basic processing of magnitude and ordinality</a:t>
            </a:r>
          </a:p>
          <a:p>
            <a:r>
              <a:rPr lang="en-US" dirty="0">
                <a:latin typeface="Helvetica" pitchFamily="2" charset="0"/>
              </a:rPr>
              <a:t>This study further urges the investigation of graphs as tools for thinking</a:t>
            </a:r>
          </a:p>
        </p:txBody>
      </p:sp>
    </p:spTree>
    <p:extLst>
      <p:ext uri="{BB962C8B-B14F-4D97-AF65-F5344CB8AC3E}">
        <p14:creationId xmlns:p14="http://schemas.microsoft.com/office/powerpoint/2010/main" val="196472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2407</TotalTime>
  <Words>903</Words>
  <Application>Microsoft Macintosh PowerPoint</Application>
  <PresentationFormat>Widescreen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Helvetica</vt:lpstr>
      <vt:lpstr>Office Theme</vt:lpstr>
      <vt:lpstr>Canonical Numerical Associations in Linear Trends </vt:lpstr>
      <vt:lpstr>Graphs as Representations</vt:lpstr>
      <vt:lpstr>Graphs as Representations</vt:lpstr>
      <vt:lpstr>Graphs as Representations</vt:lpstr>
      <vt:lpstr>PowerPoint Presentation</vt:lpstr>
      <vt:lpstr>PowerPoint Presentation</vt:lpstr>
      <vt:lpstr>Graphs as Representations</vt:lpstr>
      <vt:lpstr>Graphs as Representations</vt:lpstr>
      <vt:lpstr>Spatial Numerical Associations</vt:lpstr>
      <vt:lpstr>Does the basic perception of trend still activate quantitative representations?</vt:lpstr>
      <vt:lpstr>Does the basic perception of trend still activate quantitative representations?</vt:lpstr>
      <vt:lpstr>Does the basic perception of trend still activate quantitative representations?</vt:lpstr>
      <vt:lpstr>Research Questions</vt:lpstr>
      <vt:lpstr>Research Questions</vt:lpstr>
      <vt:lpstr>Method</vt:lpstr>
      <vt:lpstr>Trend Task</vt:lpstr>
      <vt:lpstr>Numerosity Task</vt:lpstr>
      <vt:lpstr>Does the numerosity of an array influence judgments of its trend?</vt:lpstr>
      <vt:lpstr>Does trend influence judgments of numerosity?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Robert Tarantino</dc:creator>
  <cp:lastModifiedBy>Nick Robert Tarantino</cp:lastModifiedBy>
  <cp:revision>14</cp:revision>
  <dcterms:created xsi:type="dcterms:W3CDTF">2026-04-15T05:57:34Z</dcterms:created>
  <dcterms:modified xsi:type="dcterms:W3CDTF">2026-04-23T04:43:26Z</dcterms:modified>
</cp:coreProperties>
</file>